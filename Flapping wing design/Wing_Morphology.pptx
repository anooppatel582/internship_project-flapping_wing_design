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47"/>
  </p:notesMasterIdLst>
  <p:sldIdLst>
    <p:sldId id="256" r:id="rId2"/>
    <p:sldId id="257" r:id="rId3"/>
    <p:sldId id="259" r:id="rId4"/>
    <p:sldId id="268" r:id="rId5"/>
    <p:sldId id="260" r:id="rId6"/>
    <p:sldId id="267" r:id="rId7"/>
    <p:sldId id="261" r:id="rId8"/>
    <p:sldId id="269" r:id="rId9"/>
    <p:sldId id="262" r:id="rId10"/>
    <p:sldId id="270" r:id="rId11"/>
    <p:sldId id="263" r:id="rId12"/>
    <p:sldId id="271" r:id="rId13"/>
    <p:sldId id="272" r:id="rId14"/>
    <p:sldId id="277" r:id="rId15"/>
    <p:sldId id="280" r:id="rId16"/>
    <p:sldId id="284" r:id="rId17"/>
    <p:sldId id="281" r:id="rId18"/>
    <p:sldId id="282" r:id="rId19"/>
    <p:sldId id="283" r:id="rId20"/>
    <p:sldId id="285" r:id="rId21"/>
    <p:sldId id="273" r:id="rId22"/>
    <p:sldId id="274" r:id="rId23"/>
    <p:sldId id="278" r:id="rId24"/>
    <p:sldId id="286" r:id="rId25"/>
    <p:sldId id="289" r:id="rId26"/>
    <p:sldId id="287" r:id="rId27"/>
    <p:sldId id="288" r:id="rId28"/>
    <p:sldId id="290" r:id="rId29"/>
    <p:sldId id="297" r:id="rId30"/>
    <p:sldId id="275" r:id="rId31"/>
    <p:sldId id="276" r:id="rId32"/>
    <p:sldId id="279" r:id="rId33"/>
    <p:sldId id="291" r:id="rId34"/>
    <p:sldId id="292" r:id="rId35"/>
    <p:sldId id="293" r:id="rId36"/>
    <p:sldId id="294" r:id="rId37"/>
    <p:sldId id="295" r:id="rId38"/>
    <p:sldId id="296" r:id="rId39"/>
    <p:sldId id="298" r:id="rId40"/>
    <p:sldId id="299" r:id="rId41"/>
    <p:sldId id="300" r:id="rId42"/>
    <p:sldId id="301" r:id="rId43"/>
    <p:sldId id="302" r:id="rId44"/>
    <p:sldId id="303" r:id="rId45"/>
    <p:sldId id="265" r:id="rId4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6982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636847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138077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408416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0645547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99913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716854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503052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663049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276233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812836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457811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462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7/6/2026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37918136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9.png"/><Relationship Id="rId7" Type="http://schemas.openxmlformats.org/officeDocument/2006/relationships/image" Target="../media/image17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60.png"/><Relationship Id="rId5" Type="http://schemas.openxmlformats.org/officeDocument/2006/relationships/image" Target="../media/image150.png"/><Relationship Id="rId10" Type="http://schemas.openxmlformats.org/officeDocument/2006/relationships/image" Target="../media/image20.png"/><Relationship Id="rId4" Type="http://schemas.openxmlformats.org/officeDocument/2006/relationships/image" Target="../media/image140.png"/><Relationship Id="rId9" Type="http://schemas.openxmlformats.org/officeDocument/2006/relationships/image" Target="../media/image19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70.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w="12700">
            <a:solidFill>
              <a:srgbClr val="4A90D9"/>
            </a:solidFill>
            <a:prstDash val="solid"/>
          </a:ln>
        </p:spPr>
      </p:sp>
      <p:sp>
        <p:nvSpPr>
          <p:cNvPr id="3" name="Text 1"/>
          <p:cNvSpPr/>
          <p:nvPr/>
        </p:nvSpPr>
        <p:spPr>
          <a:xfrm>
            <a:off x="640080" y="1261872"/>
            <a:ext cx="7863840" cy="320040"/>
          </a:xfrm>
          <a:prstGeom prst="rect">
            <a:avLst/>
          </a:prstGeom>
          <a:noFill/>
          <a:ln/>
        </p:spPr>
        <p:txBody>
          <a:bodyPr wrap="square" rtlCol="0" anchor="ctr"/>
          <a:lstStyle/>
          <a:p>
            <a:pPr marL="0" indent="0" algn="l">
              <a:buNone/>
            </a:pPr>
            <a:r>
              <a:rPr lang="en-US" sz="1200" b="1" kern="0" spc="500" dirty="0">
                <a:solidFill>
                  <a:srgbClr val="4A90D9"/>
                </a:solidFill>
                <a:latin typeface="Calibri" pitchFamily="34" charset="0"/>
                <a:ea typeface="Calibri" pitchFamily="34" charset="-122"/>
                <a:cs typeface="Calibri" pitchFamily="34" charset="-120"/>
              </a:rPr>
              <a:t>CHAPTER 3</a:t>
            </a:r>
            <a:endParaRPr lang="en-US" sz="1200" dirty="0"/>
          </a:p>
        </p:txBody>
      </p:sp>
      <p:sp>
        <p:nvSpPr>
          <p:cNvPr id="4" name="Text 2"/>
          <p:cNvSpPr/>
          <p:nvPr/>
        </p:nvSpPr>
        <p:spPr>
          <a:xfrm>
            <a:off x="640080" y="1543050"/>
            <a:ext cx="5699760" cy="91440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Wing Inertia and Morphology</a:t>
            </a:r>
            <a:endParaRPr lang="en-US" sz="3600" dirty="0"/>
          </a:p>
        </p:txBody>
      </p:sp>
      <p:sp>
        <p:nvSpPr>
          <p:cNvPr id="5" name="Text 3"/>
          <p:cNvSpPr/>
          <p:nvPr/>
        </p:nvSpPr>
        <p:spPr>
          <a:xfrm>
            <a:off x="640080" y="2423160"/>
            <a:ext cx="7863840" cy="502920"/>
          </a:xfrm>
          <a:prstGeom prst="rect">
            <a:avLst/>
          </a:prstGeom>
          <a:noFill/>
          <a:ln/>
        </p:spPr>
        <p:txBody>
          <a:bodyPr wrap="square" rtlCol="0" anchor="ctr"/>
          <a:lstStyle/>
          <a:p>
            <a:pPr marL="0" indent="0" algn="l">
              <a:buNone/>
            </a:pPr>
            <a:r>
              <a:rPr lang="en-US" sz="1400" dirty="0">
                <a:solidFill>
                  <a:srgbClr val="9CA3AF"/>
                </a:solidFill>
                <a:latin typeface="Calibri" pitchFamily="34" charset="0"/>
                <a:ea typeface="Calibri" pitchFamily="34" charset="-122"/>
                <a:cs typeface="Calibri" pitchFamily="34" charset="-120"/>
              </a:rPr>
              <a:t>Influence on Aerodynamic Performance of Flapping-Wing MAVs</a:t>
            </a:r>
            <a:endParaRPr lang="en-US" sz="1400" dirty="0"/>
          </a:p>
        </p:txBody>
      </p:sp>
      <p:sp>
        <p:nvSpPr>
          <p:cNvPr id="6" name="Shape 4"/>
          <p:cNvSpPr/>
          <p:nvPr/>
        </p:nvSpPr>
        <p:spPr>
          <a:xfrm>
            <a:off x="723900" y="3054095"/>
            <a:ext cx="1097280" cy="45719"/>
          </a:xfrm>
          <a:prstGeom prst="rect">
            <a:avLst/>
          </a:prstGeom>
          <a:solidFill>
            <a:srgbClr val="4A90D9"/>
          </a:solidFill>
          <a:ln w="12700">
            <a:solidFill>
              <a:srgbClr val="4A90D9"/>
            </a:solidFill>
            <a:prstDash val="solid"/>
          </a:ln>
        </p:spPr>
      </p:sp>
      <p:sp>
        <p:nvSpPr>
          <p:cNvPr id="7" name="Text 5"/>
          <p:cNvSpPr/>
          <p:nvPr/>
        </p:nvSpPr>
        <p:spPr>
          <a:xfrm>
            <a:off x="640080" y="3200400"/>
            <a:ext cx="4572000" cy="822960"/>
          </a:xfrm>
          <a:prstGeom prst="rect">
            <a:avLst/>
          </a:prstGeom>
          <a:noFill/>
          <a:ln/>
        </p:spPr>
        <p:txBody>
          <a:bodyPr wrap="square" rtlCol="0" anchor="ctr"/>
          <a:lstStyle/>
          <a:p>
            <a:pPr marL="0" indent="0" algn="l">
              <a:buNone/>
            </a:pPr>
            <a:r>
              <a:rPr lang="en-US" sz="1100" b="1" dirty="0">
                <a:solidFill>
                  <a:srgbClr val="D1D5DB"/>
                </a:solidFill>
                <a:latin typeface="Calibri" pitchFamily="34" charset="0"/>
                <a:ea typeface="Calibri" pitchFamily="34" charset="-122"/>
                <a:cs typeface="Calibri" pitchFamily="34" charset="-120"/>
              </a:rPr>
              <a:t>Anoop Patel</a:t>
            </a:r>
            <a:endParaRPr lang="en-US" sz="1100" dirty="0"/>
          </a:p>
          <a:p>
            <a:pPr marL="0" indent="0" algn="l">
              <a:buNone/>
            </a:pPr>
            <a:r>
              <a:rPr lang="en-US" sz="1100" dirty="0">
                <a:solidFill>
                  <a:srgbClr val="D1D5DB"/>
                </a:solidFill>
                <a:latin typeface="Calibri" pitchFamily="34" charset="0"/>
                <a:ea typeface="Calibri" pitchFamily="34" charset="-122"/>
                <a:cs typeface="Calibri" pitchFamily="34" charset="-120"/>
              </a:rPr>
              <a:t>Intern  |  Mechanical Engineering</a:t>
            </a:r>
            <a:endParaRPr lang="en-US" sz="1100" dirty="0"/>
          </a:p>
          <a:p>
            <a:pPr marL="0" indent="0" algn="l">
              <a:buNone/>
            </a:pPr>
            <a:r>
              <a:rPr lang="en-US" sz="1100" dirty="0">
                <a:solidFill>
                  <a:srgbClr val="D1D5DB"/>
                </a:solidFill>
                <a:latin typeface="Calibri" pitchFamily="34" charset="0"/>
                <a:ea typeface="Calibri" pitchFamily="34" charset="-122"/>
                <a:cs typeface="Calibri" pitchFamily="34" charset="-120"/>
              </a:rPr>
              <a:t>NIT Sikkim</a:t>
            </a:r>
            <a:endParaRPr lang="en-US" sz="1100" dirty="0"/>
          </a:p>
        </p:txBody>
      </p:sp>
      <p:sp>
        <p:nvSpPr>
          <p:cNvPr id="8" name="Text 6"/>
          <p:cNvSpPr/>
          <p:nvPr/>
        </p:nvSpPr>
        <p:spPr>
          <a:xfrm>
            <a:off x="5943600" y="3200400"/>
            <a:ext cx="2926080" cy="822960"/>
          </a:xfrm>
          <a:prstGeom prst="rect">
            <a:avLst/>
          </a:prstGeom>
          <a:noFill/>
          <a:ln/>
        </p:spPr>
        <p:txBody>
          <a:bodyPr wrap="square" rtlCol="0" anchor="ctr"/>
          <a:lstStyle/>
          <a:p>
            <a:pPr marL="0" indent="0" algn="r">
              <a:buNone/>
            </a:pPr>
            <a:r>
              <a:rPr lang="en-US" sz="1100" b="1" dirty="0">
                <a:solidFill>
                  <a:srgbClr val="D1D5DB"/>
                </a:solidFill>
                <a:latin typeface="Calibri" pitchFamily="34" charset="0"/>
                <a:ea typeface="Calibri" pitchFamily="34" charset="-122"/>
                <a:cs typeface="Calibri" pitchFamily="34" charset="-120"/>
              </a:rPr>
              <a:t>Guide</a:t>
            </a:r>
            <a:endParaRPr lang="en-US" sz="1100" dirty="0"/>
          </a:p>
          <a:p>
            <a:pPr marL="0" indent="0" algn="r">
              <a:buNone/>
            </a:pPr>
            <a:r>
              <a:rPr lang="en-US" sz="1100" dirty="0">
                <a:solidFill>
                  <a:srgbClr val="D1D5DB"/>
                </a:solidFill>
                <a:latin typeface="Calibri" pitchFamily="34" charset="0"/>
                <a:ea typeface="Calibri" pitchFamily="34" charset="-122"/>
                <a:cs typeface="Calibri" pitchFamily="34" charset="-120"/>
              </a:rPr>
              <a:t>Dr Sai Sidhardh</a:t>
            </a:r>
            <a:endParaRPr lang="en-US" sz="1100" dirty="0"/>
          </a:p>
          <a:p>
            <a:pPr marL="0" indent="0" algn="r">
              <a:buNone/>
            </a:pPr>
            <a:r>
              <a:rPr lang="en-US" sz="1100" dirty="0">
                <a:solidFill>
                  <a:srgbClr val="D1D5DB"/>
                </a:solidFill>
                <a:latin typeface="Calibri" pitchFamily="34" charset="0"/>
                <a:ea typeface="Calibri" pitchFamily="34" charset="-122"/>
                <a:cs typeface="Calibri" pitchFamily="34" charset="-120"/>
              </a:rPr>
              <a:t>08 June 2026</a:t>
            </a:r>
            <a:endParaRPr lang="en-US" sz="1100" dirty="0"/>
          </a:p>
        </p:txBody>
      </p:sp>
      <p:sp>
        <p:nvSpPr>
          <p:cNvPr id="9" name="Shape 7"/>
          <p:cNvSpPr/>
          <p:nvPr/>
        </p:nvSpPr>
        <p:spPr>
          <a:xfrm>
            <a:off x="0" y="5088636"/>
            <a:ext cx="9144000" cy="54864"/>
          </a:xfrm>
          <a:prstGeom prst="rect">
            <a:avLst/>
          </a:prstGeom>
          <a:solidFill>
            <a:srgbClr val="4A90D9"/>
          </a:solidFill>
          <a:ln w="12700">
            <a:solidFill>
              <a:srgbClr val="4A90D9"/>
            </a:solidFill>
            <a:prstDash val="solid"/>
          </a:ln>
        </p:spPr>
      </p:sp>
      <p:pic>
        <p:nvPicPr>
          <p:cNvPr id="17" name="Picture 16">
            <a:extLst>
              <a:ext uri="{FF2B5EF4-FFF2-40B4-BE49-F238E27FC236}">
                <a16:creationId xmlns:a16="http://schemas.microsoft.com/office/drawing/2014/main" id="{47541CE1-3AF6-36FA-AC8C-051C074D46B2}"/>
              </a:ext>
            </a:extLst>
          </p:cNvPr>
          <p:cNvPicPr>
            <a:picLocks noChangeAspect="1"/>
          </p:cNvPicPr>
          <p:nvPr/>
        </p:nvPicPr>
        <p:blipFill>
          <a:blip r:embed="rId3"/>
          <a:stretch>
            <a:fillRect/>
          </a:stretch>
        </p:blipFill>
        <p:spPr>
          <a:xfrm>
            <a:off x="4874388" y="180729"/>
            <a:ext cx="3629532" cy="35247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5760" y="164592"/>
            <a:ext cx="2743200" cy="201168"/>
          </a:xfrm>
          <a:prstGeom prst="rect">
            <a:avLst/>
          </a:prstGeom>
          <a:noFill/>
          <a:ln/>
        </p:spPr>
        <p:txBody>
          <a:bodyPr wrap="square" rtlCol="0" anchor="ctr"/>
          <a:lstStyle/>
          <a:p>
            <a:pPr marL="0" indent="0" algn="l">
              <a:buNone/>
            </a:pPr>
            <a:r>
              <a:rPr lang="en-US" sz="1400" b="1" kern="0" spc="300" dirty="0">
                <a:solidFill>
                  <a:srgbClr val="4A90D9"/>
                </a:solidFill>
                <a:latin typeface="Calibri" pitchFamily="34" charset="0"/>
                <a:ea typeface="Calibri" pitchFamily="34" charset="-122"/>
                <a:cs typeface="Calibri" pitchFamily="34" charset="-120"/>
              </a:rPr>
              <a:t>INTRODUCTION</a:t>
            </a:r>
            <a:endParaRPr lang="en-US" sz="14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Background &amp; Motivation</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5" name="Text 3"/>
          <p:cNvSpPr/>
          <p:nvPr/>
        </p:nvSpPr>
        <p:spPr>
          <a:xfrm>
            <a:off x="365760" y="1143000"/>
            <a:ext cx="4937760" cy="4000500"/>
          </a:xfrm>
          <a:prstGeom prst="rect">
            <a:avLst/>
          </a:prstGeom>
          <a:noFill/>
          <a:ln/>
        </p:spPr>
        <p:txBody>
          <a:bodyPr wrap="square" rtlCol="0" anchor="t"/>
          <a:lstStyle/>
          <a:p>
            <a:pPr marL="0" indent="0" algn="l">
              <a:buNone/>
            </a:pPr>
            <a:r>
              <a:rPr lang="en-US" sz="1200" b="1" dirty="0">
                <a:solidFill>
                  <a:srgbClr val="1E1E2E"/>
                </a:solidFill>
                <a:latin typeface="Calibri" pitchFamily="34" charset="0"/>
                <a:ea typeface="Calibri" pitchFamily="34" charset="-122"/>
                <a:cs typeface="Calibri" pitchFamily="34" charset="-120"/>
              </a:rPr>
              <a:t>What are Micro Air Vehicles (MAVs)?</a:t>
            </a:r>
            <a:endParaRPr lang="en-US" sz="1200" dirty="0"/>
          </a:p>
          <a:p>
            <a:pPr marL="0" indent="0" algn="l">
              <a:buNone/>
            </a:pPr>
            <a:r>
              <a:rPr lang="en-US" sz="1100" dirty="0">
                <a:solidFill>
                  <a:srgbClr val="6B7280"/>
                </a:solidFill>
                <a:latin typeface="Calibri" pitchFamily="34" charset="0"/>
                <a:ea typeface="Calibri" pitchFamily="34" charset="-122"/>
                <a:cs typeface="Calibri" pitchFamily="34" charset="-120"/>
              </a:rPr>
              <a:t>Insect-scale robots that use flapping wings for lift and thrust.</a:t>
            </a:r>
            <a:endParaRPr lang="en-US" sz="1100" dirty="0"/>
          </a:p>
          <a:p>
            <a:pPr marL="0" indent="0" algn="l">
              <a:buNone/>
            </a:pPr>
            <a:r>
              <a:rPr lang="en-US" sz="1100" dirty="0">
                <a:solidFill>
                  <a:srgbClr val="000000"/>
                </a:solidFill>
                <a:latin typeface="Calibri" pitchFamily="34" charset="0"/>
                <a:ea typeface="Calibri" pitchFamily="34" charset="-122"/>
                <a:cs typeface="Calibri" pitchFamily="34" charset="-120"/>
              </a:rPr>
              <a:t> </a:t>
            </a:r>
            <a:endParaRPr lang="en-US" sz="1200" dirty="0"/>
          </a:p>
          <a:p>
            <a:pPr marL="0" indent="0" algn="l">
              <a:buNone/>
            </a:pPr>
            <a:r>
              <a:rPr lang="en-US" sz="1200" b="1" dirty="0">
                <a:solidFill>
                  <a:srgbClr val="1E1E2E"/>
                </a:solidFill>
                <a:latin typeface="Calibri" pitchFamily="34" charset="0"/>
                <a:ea typeface="Calibri" pitchFamily="34" charset="-122"/>
                <a:cs typeface="Calibri" pitchFamily="34" charset="-120"/>
              </a:rPr>
              <a:t>The RoboBee Platform</a:t>
            </a:r>
            <a:endParaRPr lang="en-US" sz="1200" dirty="0"/>
          </a:p>
          <a:p>
            <a:pPr marL="0" indent="0" algn="l">
              <a:buNone/>
            </a:pPr>
            <a:r>
              <a:rPr lang="en-US" sz="1100" dirty="0">
                <a:solidFill>
                  <a:srgbClr val="6B7280"/>
                </a:solidFill>
                <a:latin typeface="Calibri" pitchFamily="34" charset="0"/>
                <a:ea typeface="Calibri" pitchFamily="34" charset="-122"/>
                <a:cs typeface="Calibri" pitchFamily="34" charset="-120"/>
              </a:rPr>
              <a:t>Developed at Harvard Microrobotics Lab. Mass ≈ 80 mg.</a:t>
            </a:r>
            <a:endParaRPr lang="en-US" sz="1100" dirty="0"/>
          </a:p>
          <a:p>
            <a:pPr marL="0" indent="0" algn="l">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lgn="l">
              <a:buNone/>
            </a:pPr>
            <a:r>
              <a:rPr lang="en-US" sz="1200" b="1" dirty="0">
                <a:solidFill>
                  <a:srgbClr val="1E1E2E"/>
                </a:solidFill>
                <a:latin typeface="Calibri" pitchFamily="34" charset="0"/>
                <a:ea typeface="Calibri" pitchFamily="34" charset="-122"/>
                <a:cs typeface="Calibri" pitchFamily="34" charset="-120"/>
              </a:rPr>
              <a:t>Why wing morphology matters?</a:t>
            </a:r>
            <a:endParaRPr lang="en-US" sz="1200" dirty="0"/>
          </a:p>
          <a:p>
            <a:pPr marL="0" indent="0" algn="l">
              <a:buNone/>
            </a:pPr>
            <a:r>
              <a:rPr lang="en-US" sz="1100" dirty="0">
                <a:solidFill>
                  <a:srgbClr val="6B7280"/>
                </a:solidFill>
                <a:latin typeface="Calibri" pitchFamily="34" charset="0"/>
                <a:ea typeface="Calibri" pitchFamily="34" charset="-122"/>
                <a:cs typeface="Calibri" pitchFamily="34" charset="-120"/>
              </a:rPr>
              <a:t>Wing geometry directly governs resonance frequency, pitch amplitude, lift generation, and power consumption.</a:t>
            </a:r>
            <a:endParaRPr lang="en-US" sz="1100" dirty="0"/>
          </a:p>
        </p:txBody>
      </p:sp>
      <p:sp>
        <p:nvSpPr>
          <p:cNvPr id="7" name="Text 5"/>
          <p:cNvSpPr/>
          <p:nvPr/>
        </p:nvSpPr>
        <p:spPr>
          <a:xfrm>
            <a:off x="5577840" y="1353312"/>
            <a:ext cx="1600200" cy="457200"/>
          </a:xfrm>
          <a:prstGeom prst="rect">
            <a:avLst/>
          </a:prstGeom>
          <a:noFill/>
          <a:ln/>
        </p:spPr>
        <p:txBody>
          <a:bodyPr wrap="square" rtlCol="0" anchor="ctr"/>
          <a:lstStyle/>
          <a:p>
            <a:pPr marL="0" indent="0" algn="ctr">
              <a:buNone/>
            </a:pPr>
            <a:endParaRPr lang="en-US" sz="1800" dirty="0"/>
          </a:p>
        </p:txBody>
      </p:sp>
      <p:sp>
        <p:nvSpPr>
          <p:cNvPr id="8" name="Text 6"/>
          <p:cNvSpPr/>
          <p:nvPr/>
        </p:nvSpPr>
        <p:spPr>
          <a:xfrm>
            <a:off x="5577840" y="1810512"/>
            <a:ext cx="1600200" cy="365760"/>
          </a:xfrm>
          <a:prstGeom prst="rect">
            <a:avLst/>
          </a:prstGeom>
          <a:noFill/>
          <a:ln/>
        </p:spPr>
        <p:txBody>
          <a:bodyPr wrap="square" rtlCol="0" anchor="ctr"/>
          <a:lstStyle/>
          <a:p>
            <a:pPr marL="0" indent="0" algn="ctr">
              <a:buNone/>
            </a:pPr>
            <a:endParaRPr lang="en-US" sz="900" dirty="0"/>
          </a:p>
        </p:txBody>
      </p:sp>
      <p:sp>
        <p:nvSpPr>
          <p:cNvPr id="10" name="Text 8"/>
          <p:cNvSpPr/>
          <p:nvPr/>
        </p:nvSpPr>
        <p:spPr>
          <a:xfrm>
            <a:off x="7360920" y="1353312"/>
            <a:ext cx="1600200" cy="457200"/>
          </a:xfrm>
          <a:prstGeom prst="rect">
            <a:avLst/>
          </a:prstGeom>
          <a:noFill/>
          <a:ln/>
        </p:spPr>
        <p:txBody>
          <a:bodyPr wrap="square" rtlCol="0" anchor="ctr"/>
          <a:lstStyle/>
          <a:p>
            <a:pPr marL="0" indent="0" algn="ctr">
              <a:buNone/>
            </a:pPr>
            <a:endParaRPr lang="en-US" sz="1800" dirty="0"/>
          </a:p>
        </p:txBody>
      </p:sp>
      <p:sp>
        <p:nvSpPr>
          <p:cNvPr id="11" name="Text 9"/>
          <p:cNvSpPr/>
          <p:nvPr/>
        </p:nvSpPr>
        <p:spPr>
          <a:xfrm>
            <a:off x="7360920" y="1810512"/>
            <a:ext cx="1600200" cy="365760"/>
          </a:xfrm>
          <a:prstGeom prst="rect">
            <a:avLst/>
          </a:prstGeom>
          <a:noFill/>
          <a:ln/>
        </p:spPr>
        <p:txBody>
          <a:bodyPr wrap="square" rtlCol="0" anchor="ctr"/>
          <a:lstStyle/>
          <a:p>
            <a:pPr marL="0" indent="0" algn="ctr">
              <a:buNone/>
            </a:pPr>
            <a:endParaRPr lang="en-US" sz="900" dirty="0"/>
          </a:p>
        </p:txBody>
      </p:sp>
      <p:sp>
        <p:nvSpPr>
          <p:cNvPr id="13" name="Text 11"/>
          <p:cNvSpPr/>
          <p:nvPr/>
        </p:nvSpPr>
        <p:spPr>
          <a:xfrm>
            <a:off x="5577840" y="2770632"/>
            <a:ext cx="1600200" cy="457200"/>
          </a:xfrm>
          <a:prstGeom prst="rect">
            <a:avLst/>
          </a:prstGeom>
          <a:noFill/>
          <a:ln/>
        </p:spPr>
        <p:txBody>
          <a:bodyPr wrap="square" rtlCol="0" anchor="ctr"/>
          <a:lstStyle/>
          <a:p>
            <a:pPr marL="0" indent="0" algn="ctr">
              <a:buNone/>
            </a:pPr>
            <a:endParaRPr lang="en-US" sz="1800" dirty="0"/>
          </a:p>
        </p:txBody>
      </p:sp>
      <p:sp>
        <p:nvSpPr>
          <p:cNvPr id="14" name="Text 12"/>
          <p:cNvSpPr/>
          <p:nvPr/>
        </p:nvSpPr>
        <p:spPr>
          <a:xfrm>
            <a:off x="5577840" y="3227832"/>
            <a:ext cx="1600200" cy="365760"/>
          </a:xfrm>
          <a:prstGeom prst="rect">
            <a:avLst/>
          </a:prstGeom>
          <a:noFill/>
          <a:ln/>
        </p:spPr>
        <p:txBody>
          <a:bodyPr wrap="square" rtlCol="0" anchor="ctr"/>
          <a:lstStyle/>
          <a:p>
            <a:pPr marL="0" indent="0" algn="ctr">
              <a:buNone/>
            </a:pPr>
            <a:endParaRPr lang="en-US" sz="900" dirty="0"/>
          </a:p>
        </p:txBody>
      </p:sp>
      <p:sp>
        <p:nvSpPr>
          <p:cNvPr id="16" name="Text 14"/>
          <p:cNvSpPr/>
          <p:nvPr/>
        </p:nvSpPr>
        <p:spPr>
          <a:xfrm>
            <a:off x="7360920" y="2770632"/>
            <a:ext cx="1600200" cy="457200"/>
          </a:xfrm>
          <a:prstGeom prst="rect">
            <a:avLst/>
          </a:prstGeom>
          <a:noFill/>
          <a:ln/>
        </p:spPr>
        <p:txBody>
          <a:bodyPr wrap="square" rtlCol="0" anchor="ctr"/>
          <a:lstStyle/>
          <a:p>
            <a:pPr marL="0" indent="0" algn="ctr">
              <a:buNone/>
            </a:pPr>
            <a:endParaRPr lang="en-US" sz="1800" dirty="0"/>
          </a:p>
        </p:txBody>
      </p:sp>
      <p:sp>
        <p:nvSpPr>
          <p:cNvPr id="17" name="Text 15"/>
          <p:cNvSpPr/>
          <p:nvPr/>
        </p:nvSpPr>
        <p:spPr>
          <a:xfrm>
            <a:off x="7360920" y="3227832"/>
            <a:ext cx="1600200" cy="365760"/>
          </a:xfrm>
          <a:prstGeom prst="rect">
            <a:avLst/>
          </a:prstGeom>
          <a:noFill/>
          <a:ln/>
        </p:spPr>
        <p:txBody>
          <a:bodyPr wrap="square" rtlCol="0" anchor="ctr"/>
          <a:lstStyle/>
          <a:p>
            <a:pPr marL="0" indent="0" algn="ctr">
              <a:buNone/>
            </a:pPr>
            <a:endParaRPr lang="en-US" sz="900" dirty="0"/>
          </a:p>
        </p:txBody>
      </p:sp>
      <p:sp>
        <p:nvSpPr>
          <p:cNvPr id="19" name="Text 17"/>
          <p:cNvSpPr/>
          <p:nvPr/>
        </p:nvSpPr>
        <p:spPr>
          <a:xfrm>
            <a:off x="365760" y="4480560"/>
            <a:ext cx="8412480"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Goal of Chapter 3: Systematically quantify how 5 wing parameters affect lift, power, and resonance frequency.</a:t>
            </a:r>
            <a:endParaRPr lang="en-US" sz="1050" dirty="0"/>
          </a:p>
        </p:txBody>
      </p:sp>
      <p:pic>
        <p:nvPicPr>
          <p:cNvPr id="21" name="Picture 20">
            <a:extLst>
              <a:ext uri="{FF2B5EF4-FFF2-40B4-BE49-F238E27FC236}">
                <a16:creationId xmlns:a16="http://schemas.microsoft.com/office/drawing/2014/main" id="{7311551D-0EC2-7E3E-7C9A-69164E9B2FA9}"/>
              </a:ext>
            </a:extLst>
          </p:cNvPr>
          <p:cNvPicPr>
            <a:picLocks noChangeAspect="1"/>
          </p:cNvPicPr>
          <p:nvPr/>
        </p:nvPicPr>
        <p:blipFill>
          <a:blip r:embed="rId3"/>
          <a:stretch>
            <a:fillRect/>
          </a:stretch>
        </p:blipFill>
        <p:spPr>
          <a:xfrm>
            <a:off x="5303520" y="1227680"/>
            <a:ext cx="3538413" cy="2512671"/>
          </a:xfrm>
          <a:prstGeom prst="rect">
            <a:avLst/>
          </a:prstGeom>
        </p:spPr>
      </p:pic>
      <p:sp>
        <p:nvSpPr>
          <p:cNvPr id="22" name="TextBox 21">
            <a:extLst>
              <a:ext uri="{FF2B5EF4-FFF2-40B4-BE49-F238E27FC236}">
                <a16:creationId xmlns:a16="http://schemas.microsoft.com/office/drawing/2014/main" id="{C10C960B-F728-A0A9-6C3A-E86B976E25E7}"/>
              </a:ext>
            </a:extLst>
          </p:cNvPr>
          <p:cNvSpPr txBox="1"/>
          <p:nvPr/>
        </p:nvSpPr>
        <p:spPr>
          <a:xfrm>
            <a:off x="5140146" y="3825031"/>
            <a:ext cx="3865161" cy="307777"/>
          </a:xfrm>
          <a:prstGeom prst="rect">
            <a:avLst/>
          </a:prstGeom>
          <a:noFill/>
        </p:spPr>
        <p:txBody>
          <a:bodyPr wrap="none" rtlCol="0">
            <a:spAutoFit/>
          </a:bodyPr>
          <a:lstStyle/>
          <a:p>
            <a:r>
              <a:rPr lang="en-IN" sz="1400" dirty="0"/>
              <a:t>Figure 3.1: Wing driver platform and wing designs.</a:t>
            </a:r>
          </a:p>
        </p:txBody>
      </p:sp>
      <p:sp>
        <p:nvSpPr>
          <p:cNvPr id="23" name="TextBox 22">
            <a:extLst>
              <a:ext uri="{FF2B5EF4-FFF2-40B4-BE49-F238E27FC236}">
                <a16:creationId xmlns:a16="http://schemas.microsoft.com/office/drawing/2014/main" id="{9426D35C-CA1E-FEF2-32CA-215716C964D8}"/>
              </a:ext>
            </a:extLst>
          </p:cNvPr>
          <p:cNvSpPr txBox="1"/>
          <p:nvPr/>
        </p:nvSpPr>
        <p:spPr>
          <a:xfrm>
            <a:off x="365760" y="2783788"/>
            <a:ext cx="4604146" cy="615553"/>
          </a:xfrm>
          <a:prstGeom prst="rect">
            <a:avLst/>
          </a:prstGeom>
          <a:noFill/>
        </p:spPr>
        <p:txBody>
          <a:bodyPr wrap="none" rtlCol="0">
            <a:spAutoFit/>
          </a:bodyPr>
          <a:lstStyle/>
          <a:p>
            <a:r>
              <a:rPr lang="en-IN" sz="1200" b="1" dirty="0"/>
              <a:t>Our Aim</a:t>
            </a:r>
            <a:br>
              <a:rPr lang="en-IN" dirty="0"/>
            </a:br>
            <a:r>
              <a:rPr lang="en-IN" sz="1100" dirty="0">
                <a:solidFill>
                  <a:schemeClr val="bg1">
                    <a:lumMod val="50000"/>
                  </a:schemeClr>
                </a:solidFill>
              </a:rPr>
              <a:t>Improving the robot’s flapping performance and thus payload capacity.</a:t>
            </a:r>
          </a:p>
          <a:p>
            <a:r>
              <a:rPr lang="en-IN" sz="1100" dirty="0">
                <a:solidFill>
                  <a:schemeClr val="bg1">
                    <a:lumMod val="50000"/>
                  </a:schemeClr>
                </a:solidFill>
              </a:rPr>
              <a:t>We demonstrate that wing morphology has large impact on lift enhancement.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5760" y="164592"/>
            <a:ext cx="2743200" cy="201168"/>
          </a:xfrm>
          <a:prstGeom prst="rect">
            <a:avLst/>
          </a:prstGeom>
          <a:noFill/>
          <a:ln/>
        </p:spPr>
        <p:txBody>
          <a:bodyPr wrap="square" rtlCol="0" anchor="ctr"/>
          <a:lstStyle/>
          <a:p>
            <a:pPr marL="0" indent="0" algn="l">
              <a:buNone/>
            </a:pPr>
            <a:r>
              <a:rPr lang="en-US" sz="1000" b="1" kern="0" spc="300" dirty="0">
                <a:solidFill>
                  <a:srgbClr val="4A90D9"/>
                </a:solidFill>
                <a:latin typeface="Calibri" pitchFamily="34" charset="0"/>
                <a:ea typeface="Calibri" pitchFamily="34" charset="-122"/>
                <a:cs typeface="Calibri" pitchFamily="34" charset="-120"/>
              </a:rPr>
              <a:t>PARAMETER 1</a:t>
            </a:r>
            <a:endParaRPr lang="en-US" sz="10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Wing Inertia </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5" name="Text 3"/>
          <p:cNvSpPr/>
          <p:nvPr/>
        </p:nvSpPr>
        <p:spPr>
          <a:xfrm>
            <a:off x="365760" y="1115568"/>
            <a:ext cx="8412480" cy="411480"/>
          </a:xfrm>
          <a:prstGeom prst="rect">
            <a:avLst/>
          </a:prstGeom>
          <a:noFill/>
          <a:ln/>
        </p:spPr>
        <p:txBody>
          <a:bodyPr wrap="square" rtlCol="0" anchor="ctr"/>
          <a:lstStyle/>
          <a:p>
            <a:pPr marL="0" indent="0">
              <a:buNone/>
            </a:pPr>
            <a:r>
              <a:rPr lang="en-US" sz="1100" b="1" dirty="0">
                <a:solidFill>
                  <a:srgbClr val="4A90D9"/>
                </a:solidFill>
                <a:latin typeface="Calibri" pitchFamily="34" charset="0"/>
                <a:ea typeface="Calibri" pitchFamily="34" charset="-122"/>
                <a:cs typeface="Calibri" pitchFamily="34" charset="-120"/>
              </a:rPr>
              <a:t>Key Finding: </a:t>
            </a:r>
            <a:r>
              <a:rPr lang="en-US" sz="1100" dirty="0">
                <a:solidFill>
                  <a:srgbClr val="1E1E2E"/>
                </a:solidFill>
                <a:latin typeface="Calibri" pitchFamily="34" charset="0"/>
                <a:ea typeface="Calibri" pitchFamily="34" charset="-122"/>
                <a:cs typeface="Calibri" pitchFamily="34" charset="-120"/>
              </a:rPr>
              <a:t>An intermediate inertia (not minimum) gives maximum lift. This is because inertia governs pitch amplitude .</a:t>
            </a:r>
            <a:endParaRPr lang="en-US" sz="1100" dirty="0"/>
          </a:p>
        </p:txBody>
      </p:sp>
      <p:pic>
        <p:nvPicPr>
          <p:cNvPr id="21" name="Picture 20">
            <a:extLst>
              <a:ext uri="{FF2B5EF4-FFF2-40B4-BE49-F238E27FC236}">
                <a16:creationId xmlns:a16="http://schemas.microsoft.com/office/drawing/2014/main" id="{EEC102B8-D1AC-8F08-C57C-C3DA8E7157F0}"/>
              </a:ext>
            </a:extLst>
          </p:cNvPr>
          <p:cNvPicPr>
            <a:picLocks noChangeAspect="1"/>
          </p:cNvPicPr>
          <p:nvPr/>
        </p:nvPicPr>
        <p:blipFill>
          <a:blip r:embed="rId3"/>
          <a:stretch>
            <a:fillRect/>
          </a:stretch>
        </p:blipFill>
        <p:spPr>
          <a:xfrm>
            <a:off x="1737360" y="1632204"/>
            <a:ext cx="5049442" cy="1430566"/>
          </a:xfrm>
          <a:prstGeom prst="rect">
            <a:avLst/>
          </a:prstGeom>
        </p:spPr>
      </p:pic>
      <p:sp>
        <p:nvSpPr>
          <p:cNvPr id="22" name="TextBox 21">
            <a:extLst>
              <a:ext uri="{FF2B5EF4-FFF2-40B4-BE49-F238E27FC236}">
                <a16:creationId xmlns:a16="http://schemas.microsoft.com/office/drawing/2014/main" id="{B460D6FE-FB5E-6D44-5C01-524A4FE926D9}"/>
              </a:ext>
            </a:extLst>
          </p:cNvPr>
          <p:cNvSpPr txBox="1"/>
          <p:nvPr/>
        </p:nvSpPr>
        <p:spPr>
          <a:xfrm>
            <a:off x="3393894" y="3351860"/>
            <a:ext cx="1736373" cy="1107996"/>
          </a:xfrm>
          <a:prstGeom prst="rect">
            <a:avLst/>
          </a:prstGeom>
          <a:noFill/>
        </p:spPr>
        <p:txBody>
          <a:bodyPr wrap="none" rtlCol="0">
            <a:spAutoFit/>
          </a:bodyPr>
          <a:lstStyle/>
          <a:p>
            <a:r>
              <a:rPr lang="en-IN" noProof="1">
                <a:latin typeface="Sabon Next LT" panose="020B0502040204020203" pitchFamily="2" charset="0"/>
                <a:cs typeface="Sabon Next LT" panose="020B0502040204020203" pitchFamily="2" charset="0"/>
              </a:rPr>
              <a:t>m</a:t>
            </a:r>
            <a:r>
              <a:rPr lang="en-IN" sz="1200" noProof="1">
                <a:latin typeface="Sabon Next LT" panose="020B0502040204020203" pitchFamily="2" charset="0"/>
                <a:cs typeface="Sabon Next LT" panose="020B0502040204020203" pitchFamily="2" charset="0"/>
              </a:rPr>
              <a:t>spar = </a:t>
            </a:r>
            <a:r>
              <a:rPr lang="en-IN" noProof="1"/>
              <a:t>ρ *</a:t>
            </a:r>
            <a:r>
              <a:rPr lang="en-IN" sz="1200" noProof="1"/>
              <a:t> </a:t>
            </a:r>
            <a:r>
              <a:rPr lang="en-IN" noProof="1"/>
              <a:t>V</a:t>
            </a:r>
            <a:r>
              <a:rPr lang="en-IN" sz="1200" noProof="1"/>
              <a:t>spar</a:t>
            </a:r>
          </a:p>
          <a:p>
            <a:r>
              <a:rPr lang="en-IN" noProof="1">
                <a:latin typeface="Sabon Next LT" panose="020B0502040204020203" pitchFamily="2" charset="0"/>
                <a:cs typeface="Sabon Next LT" panose="020B0502040204020203" pitchFamily="2" charset="0"/>
              </a:rPr>
              <a:t>m</a:t>
            </a:r>
            <a:r>
              <a:rPr lang="en-IN" sz="1200" noProof="1">
                <a:latin typeface="Sabon Next LT" panose="020B0502040204020203" pitchFamily="2" charset="0"/>
                <a:cs typeface="Sabon Next LT" panose="020B0502040204020203" pitchFamily="2" charset="0"/>
              </a:rPr>
              <a:t>spar = </a:t>
            </a:r>
            <a:r>
              <a:rPr lang="en-IN" noProof="1"/>
              <a:t>ρ</a:t>
            </a:r>
            <a:r>
              <a:rPr lang="en-IN" sz="1200" noProof="1"/>
              <a:t> </a:t>
            </a:r>
            <a:r>
              <a:rPr lang="en-IN" noProof="1"/>
              <a:t>* L*t*W</a:t>
            </a:r>
          </a:p>
          <a:p>
            <a:r>
              <a:rPr lang="en-IN" noProof="1"/>
              <a:t>I = </a:t>
            </a:r>
            <a:r>
              <a:rPr lang="en-IN" noProof="1">
                <a:latin typeface="Sabon Next LT" panose="02000500000000000000" pitchFamily="2" charset="0"/>
                <a:cs typeface="Sabon Next LT" panose="02000500000000000000" pitchFamily="2" charset="0"/>
              </a:rPr>
              <a:t>ʃ r^2 * dm</a:t>
            </a:r>
            <a:endParaRPr lang="en-IN" noProof="1"/>
          </a:p>
          <a:p>
            <a:endParaRPr lang="en-IN" sz="12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32CB8A-3671-EFF8-F584-C08B0C60542E}"/>
              </a:ext>
            </a:extLst>
          </p:cNvPr>
          <p:cNvSpPr txBox="1"/>
          <p:nvPr/>
        </p:nvSpPr>
        <p:spPr>
          <a:xfrm>
            <a:off x="191347" y="2424136"/>
            <a:ext cx="9330267" cy="369332"/>
          </a:xfrm>
          <a:prstGeom prst="rect">
            <a:avLst/>
          </a:prstGeom>
          <a:noFill/>
        </p:spPr>
        <p:txBody>
          <a:bodyPr wrap="square" rtlCol="0">
            <a:spAutoFit/>
          </a:bodyPr>
          <a:lstStyle/>
          <a:p>
            <a:r>
              <a:rPr lang="en-IN" dirty="0"/>
              <a:t>Figure 3.2: Wing inertia influence on aerodynamic performance, stroke and pitch kinematics.</a:t>
            </a:r>
          </a:p>
        </p:txBody>
      </p:sp>
      <p:pic>
        <p:nvPicPr>
          <p:cNvPr id="6" name="Picture 5">
            <a:extLst>
              <a:ext uri="{FF2B5EF4-FFF2-40B4-BE49-F238E27FC236}">
                <a16:creationId xmlns:a16="http://schemas.microsoft.com/office/drawing/2014/main" id="{A0F8D6FB-D4C9-EF70-68A0-41BDF1C58E3D}"/>
              </a:ext>
            </a:extLst>
          </p:cNvPr>
          <p:cNvPicPr>
            <a:picLocks noChangeAspect="1"/>
          </p:cNvPicPr>
          <p:nvPr/>
        </p:nvPicPr>
        <p:blipFill>
          <a:blip r:embed="rId2"/>
          <a:stretch>
            <a:fillRect/>
          </a:stretch>
        </p:blipFill>
        <p:spPr>
          <a:xfrm>
            <a:off x="878237" y="137532"/>
            <a:ext cx="6998060" cy="2097669"/>
          </a:xfrm>
          <a:prstGeom prst="rect">
            <a:avLst/>
          </a:prstGeom>
        </p:spPr>
      </p:pic>
      <p:sp>
        <p:nvSpPr>
          <p:cNvPr id="7" name="TextBox 6">
            <a:extLst>
              <a:ext uri="{FF2B5EF4-FFF2-40B4-BE49-F238E27FC236}">
                <a16:creationId xmlns:a16="http://schemas.microsoft.com/office/drawing/2014/main" id="{F19F3288-BA58-9287-2D7C-D280099E0B84}"/>
              </a:ext>
            </a:extLst>
          </p:cNvPr>
          <p:cNvSpPr txBox="1"/>
          <p:nvPr/>
        </p:nvSpPr>
        <p:spPr>
          <a:xfrm>
            <a:off x="1498600" y="2947876"/>
            <a:ext cx="7255933" cy="1754326"/>
          </a:xfrm>
          <a:prstGeom prst="rect">
            <a:avLst/>
          </a:prstGeom>
          <a:noFill/>
        </p:spPr>
        <p:txBody>
          <a:bodyPr wrap="square" rtlCol="0">
            <a:spAutoFit/>
          </a:bodyPr>
          <a:lstStyle/>
          <a:p>
            <a:r>
              <a:rPr lang="en-IN" dirty="0"/>
              <a:t>By quasi-steady model</a:t>
            </a:r>
          </a:p>
          <a:p>
            <a:endParaRPr lang="en-IN" dirty="0"/>
          </a:p>
          <a:p>
            <a:r>
              <a:rPr lang="en-IN" dirty="0"/>
              <a:t>C</a:t>
            </a:r>
            <a:r>
              <a:rPr lang="en-IN" sz="1100" dirty="0"/>
              <a:t>L</a:t>
            </a:r>
            <a:r>
              <a:rPr lang="en-IN" dirty="0"/>
              <a:t> ∝ sin(2</a:t>
            </a:r>
            <a:r>
              <a:rPr lang="el-GR" dirty="0"/>
              <a:t>α</a:t>
            </a:r>
            <a:r>
              <a:rPr lang="en-IN" dirty="0">
                <a:cs typeface="Rod" panose="020F0502020204030204" pitchFamily="49" charset="-79"/>
              </a:rPr>
              <a:t>) = cos(2</a:t>
            </a:r>
            <a:r>
              <a:rPr lang="en-IN" dirty="0"/>
              <a:t>ψ) [</a:t>
            </a:r>
            <a:r>
              <a:rPr lang="el-GR" dirty="0"/>
              <a:t>α</a:t>
            </a:r>
            <a:r>
              <a:rPr lang="en-IN" dirty="0"/>
              <a:t>=angle of attack]</a:t>
            </a:r>
          </a:p>
          <a:p>
            <a:endParaRPr lang="en-IN" dirty="0"/>
          </a:p>
          <a:p>
            <a:r>
              <a:rPr lang="en-IN" noProof="1"/>
              <a:t>Wing 4 has largest pitch amplitude ψ</a:t>
            </a:r>
            <a:r>
              <a:rPr lang="en-IN" sz="1200" noProof="1"/>
              <a:t>max </a:t>
            </a:r>
            <a:r>
              <a:rPr lang="en-IN" noProof="1"/>
              <a:t>[ψ</a:t>
            </a:r>
            <a:r>
              <a:rPr lang="en-IN" sz="1200" noProof="1"/>
              <a:t>max</a:t>
            </a:r>
            <a:r>
              <a:rPr lang="en-IN" noProof="1"/>
              <a:t> increases as the wing intertia increases]</a:t>
            </a:r>
          </a:p>
        </p:txBody>
      </p:sp>
    </p:spTree>
    <p:extLst>
      <p:ext uri="{BB962C8B-B14F-4D97-AF65-F5344CB8AC3E}">
        <p14:creationId xmlns:p14="http://schemas.microsoft.com/office/powerpoint/2010/main" val="299747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5760" y="164592"/>
            <a:ext cx="2743200" cy="201168"/>
          </a:xfrm>
          <a:prstGeom prst="rect">
            <a:avLst/>
          </a:prstGeom>
          <a:noFill/>
          <a:ln/>
        </p:spPr>
        <p:txBody>
          <a:bodyPr wrap="square" rtlCol="0" anchor="ctr"/>
          <a:lstStyle/>
          <a:p>
            <a:pPr marL="0" indent="0" algn="l">
              <a:buNone/>
            </a:pPr>
            <a:r>
              <a:rPr lang="en-US" sz="1100" b="1" kern="0" spc="300" dirty="0">
                <a:solidFill>
                  <a:srgbClr val="4A90D9"/>
                </a:solidFill>
                <a:latin typeface="Calibri" pitchFamily="34" charset="0"/>
                <a:ea typeface="Calibri" pitchFamily="34" charset="-122"/>
                <a:cs typeface="Calibri" pitchFamily="34" charset="-120"/>
              </a:rPr>
              <a:t>PARAMETER 2</a:t>
            </a:r>
            <a:endParaRPr lang="en-US" sz="11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Wing Aspect Ratio </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5" name="Text 3"/>
          <p:cNvSpPr/>
          <p:nvPr/>
        </p:nvSpPr>
        <p:spPr>
          <a:xfrm>
            <a:off x="365760" y="1143000"/>
            <a:ext cx="8412480" cy="320040"/>
          </a:xfrm>
          <a:prstGeom prst="rect">
            <a:avLst/>
          </a:prstGeom>
          <a:noFill/>
          <a:ln/>
        </p:spPr>
        <p:txBody>
          <a:bodyPr wrap="square" rtlCol="0" anchor="ctr"/>
          <a:lstStyle/>
          <a:p>
            <a:pPr marL="0" indent="0">
              <a:buNone/>
            </a:pPr>
            <a:r>
              <a:rPr lang="en-US" sz="1100" b="1" dirty="0">
                <a:solidFill>
                  <a:srgbClr val="4A90D9"/>
                </a:solidFill>
                <a:latin typeface="Calibri" pitchFamily="34" charset="0"/>
                <a:ea typeface="Calibri" pitchFamily="34" charset="-122"/>
                <a:cs typeface="Calibri" pitchFamily="34" charset="-120"/>
              </a:rPr>
              <a:t>Aspect Ratio = Span / Chord   (range tested: AR = 3.0 → 5.5)
</a:t>
            </a:r>
            <a:endParaRPr lang="en-US" sz="1100" dirty="0"/>
          </a:p>
        </p:txBody>
      </p:sp>
      <p:sp>
        <p:nvSpPr>
          <p:cNvPr id="6" name="Shape 4"/>
          <p:cNvSpPr/>
          <p:nvPr/>
        </p:nvSpPr>
        <p:spPr>
          <a:xfrm>
            <a:off x="365760" y="1572768"/>
            <a:ext cx="8412480" cy="685800"/>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txBody>
          <a:bodyPr/>
          <a:lstStyle/>
          <a:p>
            <a:endParaRPr lang="en-IN"/>
          </a:p>
        </p:txBody>
      </p:sp>
      <p:sp>
        <p:nvSpPr>
          <p:cNvPr id="7" name="Shape 5"/>
          <p:cNvSpPr/>
          <p:nvPr/>
        </p:nvSpPr>
        <p:spPr>
          <a:xfrm>
            <a:off x="365760" y="1572768"/>
            <a:ext cx="54864" cy="685800"/>
          </a:xfrm>
          <a:prstGeom prst="rect">
            <a:avLst/>
          </a:prstGeom>
          <a:solidFill>
            <a:srgbClr val="4A90D9"/>
          </a:solidFill>
          <a:ln w="12700">
            <a:solidFill>
              <a:srgbClr val="4A90D9"/>
            </a:solidFill>
            <a:prstDash val="solid"/>
          </a:ln>
        </p:spPr>
      </p:sp>
      <p:sp>
        <p:nvSpPr>
          <p:cNvPr id="8" name="Text 6"/>
          <p:cNvSpPr/>
          <p:nvPr/>
        </p:nvSpPr>
        <p:spPr>
          <a:xfrm>
            <a:off x="548640" y="1609344"/>
            <a:ext cx="3200400" cy="256032"/>
          </a:xfrm>
          <a:prstGeom prst="rect">
            <a:avLst/>
          </a:prstGeom>
          <a:noFill/>
          <a:ln/>
        </p:spPr>
        <p:txBody>
          <a:bodyPr wrap="square" rtlCol="0" anchor="ctr"/>
          <a:lstStyle/>
          <a:p>
            <a:pPr marL="0" indent="0">
              <a:buNone/>
            </a:pPr>
            <a:r>
              <a:rPr lang="en-US" sz="1100" b="1" dirty="0">
                <a:solidFill>
                  <a:srgbClr val="1E1E2E"/>
                </a:solidFill>
                <a:latin typeface="Calibri" pitchFamily="34" charset="0"/>
                <a:ea typeface="Calibri" pitchFamily="34" charset="-122"/>
                <a:cs typeface="Calibri" pitchFamily="34" charset="-120"/>
              </a:rPr>
              <a:t>Lift/frequency/power Vs AR</a:t>
            </a:r>
            <a:endParaRPr lang="en-US" sz="1100" dirty="0"/>
          </a:p>
        </p:txBody>
      </p:sp>
      <p:sp>
        <p:nvSpPr>
          <p:cNvPr id="9" name="Text 7"/>
          <p:cNvSpPr/>
          <p:nvPr/>
        </p:nvSpPr>
        <p:spPr>
          <a:xfrm>
            <a:off x="548640" y="1865376"/>
            <a:ext cx="8046720" cy="27432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As the AR increases the lift, frequency and power dissipated decreases.</a:t>
            </a:r>
            <a:endParaRPr lang="en-US" sz="1050" dirty="0"/>
          </a:p>
        </p:txBody>
      </p:sp>
      <p:sp>
        <p:nvSpPr>
          <p:cNvPr id="10" name="Shape 8"/>
          <p:cNvSpPr/>
          <p:nvPr/>
        </p:nvSpPr>
        <p:spPr>
          <a:xfrm>
            <a:off x="365760" y="2368296"/>
            <a:ext cx="8412480" cy="685800"/>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11" name="Shape 9"/>
          <p:cNvSpPr/>
          <p:nvPr/>
        </p:nvSpPr>
        <p:spPr>
          <a:xfrm>
            <a:off x="365760" y="2368296"/>
            <a:ext cx="54864" cy="685800"/>
          </a:xfrm>
          <a:prstGeom prst="rect">
            <a:avLst/>
          </a:prstGeom>
          <a:solidFill>
            <a:srgbClr val="4A90D9"/>
          </a:solidFill>
          <a:ln w="12700">
            <a:solidFill>
              <a:srgbClr val="4A90D9"/>
            </a:solidFill>
            <a:prstDash val="solid"/>
          </a:ln>
        </p:spPr>
      </p:sp>
      <p:sp>
        <p:nvSpPr>
          <p:cNvPr id="12" name="Text 10"/>
          <p:cNvSpPr/>
          <p:nvPr/>
        </p:nvSpPr>
        <p:spPr>
          <a:xfrm>
            <a:off x="548640" y="2404872"/>
            <a:ext cx="3200400" cy="256032"/>
          </a:xfrm>
          <a:prstGeom prst="rect">
            <a:avLst/>
          </a:prstGeom>
          <a:noFill/>
          <a:ln/>
        </p:spPr>
        <p:txBody>
          <a:bodyPr wrap="square" rtlCol="0" anchor="ctr"/>
          <a:lstStyle/>
          <a:p>
            <a:pPr marL="0" indent="0">
              <a:buNone/>
            </a:pPr>
            <a:r>
              <a:rPr lang="en-US" sz="1100" b="1" dirty="0">
                <a:solidFill>
                  <a:srgbClr val="1E1E2E"/>
                </a:solidFill>
                <a:latin typeface="Calibri" pitchFamily="34" charset="0"/>
                <a:ea typeface="Calibri" pitchFamily="34" charset="-122"/>
                <a:cs typeface="Calibri" pitchFamily="34" charset="-120"/>
              </a:rPr>
              <a:t>Max lift at AR=3.5 instead of AR=3</a:t>
            </a:r>
            <a:endParaRPr lang="en-US" sz="1100" dirty="0"/>
          </a:p>
        </p:txBody>
      </p:sp>
      <p:sp>
        <p:nvSpPr>
          <p:cNvPr id="13" name="Text 11"/>
          <p:cNvSpPr/>
          <p:nvPr/>
        </p:nvSpPr>
        <p:spPr>
          <a:xfrm>
            <a:off x="548640" y="2660904"/>
            <a:ext cx="8046720" cy="27432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Because the resonance frequency of AR=3 is expected to be higher than 140 Hz. </a:t>
            </a:r>
            <a:endParaRPr lang="en-US" sz="1050" dirty="0"/>
          </a:p>
        </p:txBody>
      </p:sp>
      <p:sp>
        <p:nvSpPr>
          <p:cNvPr id="14" name="Shape 12"/>
          <p:cNvSpPr/>
          <p:nvPr/>
        </p:nvSpPr>
        <p:spPr>
          <a:xfrm>
            <a:off x="365760" y="3163824"/>
            <a:ext cx="8412480" cy="685800"/>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15" name="Shape 13"/>
          <p:cNvSpPr/>
          <p:nvPr/>
        </p:nvSpPr>
        <p:spPr>
          <a:xfrm>
            <a:off x="365760" y="3163824"/>
            <a:ext cx="54864" cy="685800"/>
          </a:xfrm>
          <a:prstGeom prst="rect">
            <a:avLst/>
          </a:prstGeom>
          <a:solidFill>
            <a:srgbClr val="4A90D9"/>
          </a:solidFill>
          <a:ln w="12700">
            <a:solidFill>
              <a:srgbClr val="4A90D9"/>
            </a:solidFill>
            <a:prstDash val="solid"/>
          </a:ln>
        </p:spPr>
      </p:sp>
      <p:sp>
        <p:nvSpPr>
          <p:cNvPr id="16" name="Text 14"/>
          <p:cNvSpPr/>
          <p:nvPr/>
        </p:nvSpPr>
        <p:spPr>
          <a:xfrm>
            <a:off x="548640" y="3200400"/>
            <a:ext cx="3200400" cy="256032"/>
          </a:xfrm>
          <a:prstGeom prst="rect">
            <a:avLst/>
          </a:prstGeom>
          <a:noFill/>
          <a:ln/>
        </p:spPr>
        <p:txBody>
          <a:bodyPr wrap="square" rtlCol="0" anchor="ctr"/>
          <a:lstStyle/>
          <a:p>
            <a:pPr marL="0" indent="0">
              <a:buNone/>
            </a:pPr>
            <a:r>
              <a:rPr lang="en-US" sz="1100" b="1" dirty="0">
                <a:solidFill>
                  <a:srgbClr val="1E1E2E"/>
                </a:solidFill>
                <a:latin typeface="Calibri" pitchFamily="34" charset="0"/>
                <a:ea typeface="Calibri" pitchFamily="34" charset="-122"/>
                <a:cs typeface="Calibri" pitchFamily="34" charset="-120"/>
              </a:rPr>
              <a:t>Resonance Frequency Vs AR</a:t>
            </a:r>
            <a:endParaRPr lang="en-US" sz="1100" dirty="0"/>
          </a:p>
        </p:txBody>
      </p:sp>
      <p:sp>
        <p:nvSpPr>
          <p:cNvPr id="17" name="Text 15"/>
          <p:cNvSpPr/>
          <p:nvPr/>
        </p:nvSpPr>
        <p:spPr>
          <a:xfrm>
            <a:off x="548640" y="3456432"/>
            <a:ext cx="8046720" cy="27432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The resonance frequency is decreasing because the chordwise moment of inertia is increasing.</a:t>
            </a:r>
            <a:endParaRPr lang="en-US" sz="950" dirty="0"/>
          </a:p>
        </p:txBody>
      </p:sp>
      <p:sp>
        <p:nvSpPr>
          <p:cNvPr id="18" name="Shape 16"/>
          <p:cNvSpPr/>
          <p:nvPr/>
        </p:nvSpPr>
        <p:spPr>
          <a:xfrm>
            <a:off x="365760" y="3959352"/>
            <a:ext cx="8412480" cy="685800"/>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19" name="Shape 17"/>
          <p:cNvSpPr/>
          <p:nvPr/>
        </p:nvSpPr>
        <p:spPr>
          <a:xfrm>
            <a:off x="365760" y="3959352"/>
            <a:ext cx="54864" cy="685800"/>
          </a:xfrm>
          <a:prstGeom prst="rect">
            <a:avLst/>
          </a:prstGeom>
          <a:solidFill>
            <a:srgbClr val="4A90D9"/>
          </a:solidFill>
          <a:ln w="12700">
            <a:solidFill>
              <a:srgbClr val="4A90D9"/>
            </a:solidFill>
            <a:prstDash val="solid"/>
          </a:ln>
        </p:spPr>
      </p:sp>
      <p:sp>
        <p:nvSpPr>
          <p:cNvPr id="20" name="Text 18"/>
          <p:cNvSpPr/>
          <p:nvPr/>
        </p:nvSpPr>
        <p:spPr>
          <a:xfrm>
            <a:off x="548640" y="3995928"/>
            <a:ext cx="3200400" cy="256032"/>
          </a:xfrm>
          <a:prstGeom prst="rect">
            <a:avLst/>
          </a:prstGeom>
          <a:noFill/>
          <a:ln/>
        </p:spPr>
        <p:txBody>
          <a:bodyPr wrap="square" rtlCol="0" anchor="ctr"/>
          <a:lstStyle/>
          <a:p>
            <a:pPr marL="0" indent="0">
              <a:buNone/>
            </a:pPr>
            <a:r>
              <a:rPr lang="en-US" sz="1100" b="1" dirty="0">
                <a:solidFill>
                  <a:srgbClr val="1E1E2E"/>
                </a:solidFill>
                <a:latin typeface="Calibri" pitchFamily="34" charset="0"/>
                <a:ea typeface="Calibri" pitchFamily="34" charset="-122"/>
                <a:cs typeface="Calibri" pitchFamily="34" charset="-120"/>
              </a:rPr>
              <a:t>Ixx vs Izz </a:t>
            </a:r>
            <a:endParaRPr lang="en-US" sz="1100" dirty="0"/>
          </a:p>
        </p:txBody>
      </p:sp>
      <p:sp>
        <p:nvSpPr>
          <p:cNvPr id="21" name="Text 19"/>
          <p:cNvSpPr/>
          <p:nvPr/>
        </p:nvSpPr>
        <p:spPr>
          <a:xfrm>
            <a:off x="548640" y="4251960"/>
            <a:ext cx="8046720" cy="27432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Chordwise moment of inertia(Izz) increases and the spanwise moment of inertia</a:t>
            </a:r>
            <a:r>
              <a:rPr lang="en-US" sz="1050" noProof="1">
                <a:solidFill>
                  <a:srgbClr val="6B7280"/>
                </a:solidFill>
                <a:latin typeface="Calibri" pitchFamily="34" charset="0"/>
                <a:ea typeface="Calibri" pitchFamily="34" charset="-122"/>
                <a:cs typeface="Calibri" pitchFamily="34" charset="-120"/>
              </a:rPr>
              <a:t>(Ixx) </a:t>
            </a:r>
            <a:r>
              <a:rPr lang="en-US" sz="1050" dirty="0">
                <a:solidFill>
                  <a:srgbClr val="6B7280"/>
                </a:solidFill>
                <a:latin typeface="Calibri" pitchFamily="34" charset="0"/>
                <a:ea typeface="Calibri" pitchFamily="34" charset="-122"/>
                <a:cs typeface="Calibri" pitchFamily="34" charset="-120"/>
              </a:rPr>
              <a:t>is decreases.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E07A99-3168-2F28-5736-BD5E52BB1EE7}"/>
              </a:ext>
            </a:extLst>
          </p:cNvPr>
          <p:cNvSpPr txBox="1"/>
          <p:nvPr/>
        </p:nvSpPr>
        <p:spPr>
          <a:xfrm>
            <a:off x="1254028" y="2562720"/>
            <a:ext cx="6651180" cy="369332"/>
          </a:xfrm>
          <a:prstGeom prst="rect">
            <a:avLst/>
          </a:prstGeom>
          <a:noFill/>
        </p:spPr>
        <p:txBody>
          <a:bodyPr wrap="none" rtlCol="0">
            <a:spAutoFit/>
          </a:bodyPr>
          <a:lstStyle/>
          <a:p>
            <a:r>
              <a:rPr lang="en-IN" dirty="0"/>
              <a:t>Figure 3.3: Wing aspect ratio influence on aerodynamic performance.</a:t>
            </a:r>
          </a:p>
        </p:txBody>
      </p:sp>
      <p:pic>
        <p:nvPicPr>
          <p:cNvPr id="4" name="Picture 3">
            <a:extLst>
              <a:ext uri="{FF2B5EF4-FFF2-40B4-BE49-F238E27FC236}">
                <a16:creationId xmlns:a16="http://schemas.microsoft.com/office/drawing/2014/main" id="{99E3A8BF-CDD3-4465-6A3D-79643A789FCA}"/>
              </a:ext>
            </a:extLst>
          </p:cNvPr>
          <p:cNvPicPr>
            <a:picLocks noChangeAspect="1"/>
          </p:cNvPicPr>
          <p:nvPr/>
        </p:nvPicPr>
        <p:blipFill>
          <a:blip r:embed="rId2"/>
          <a:stretch>
            <a:fillRect/>
          </a:stretch>
        </p:blipFill>
        <p:spPr>
          <a:xfrm>
            <a:off x="1515006" y="74826"/>
            <a:ext cx="5907795" cy="2571750"/>
          </a:xfrm>
          <a:prstGeom prst="rect">
            <a:avLst/>
          </a:prstGeom>
        </p:spPr>
      </p:pic>
      <p:pic>
        <p:nvPicPr>
          <p:cNvPr id="5" name="Picture 4">
            <a:extLst>
              <a:ext uri="{FF2B5EF4-FFF2-40B4-BE49-F238E27FC236}">
                <a16:creationId xmlns:a16="http://schemas.microsoft.com/office/drawing/2014/main" id="{03CB3FED-9E93-8601-6410-2A5CF1BB60B8}"/>
              </a:ext>
            </a:extLst>
          </p:cNvPr>
          <p:cNvPicPr>
            <a:picLocks noChangeAspect="1"/>
          </p:cNvPicPr>
          <p:nvPr/>
        </p:nvPicPr>
        <p:blipFill>
          <a:blip r:embed="rId3"/>
          <a:stretch>
            <a:fillRect/>
          </a:stretch>
        </p:blipFill>
        <p:spPr>
          <a:xfrm>
            <a:off x="3852506" y="2848624"/>
            <a:ext cx="1454225" cy="958899"/>
          </a:xfrm>
          <a:prstGeom prst="rect">
            <a:avLst/>
          </a:prstGeom>
        </p:spPr>
      </p:pic>
      <p:sp>
        <p:nvSpPr>
          <p:cNvPr id="6" name="TextBox 5">
            <a:extLst>
              <a:ext uri="{FF2B5EF4-FFF2-40B4-BE49-F238E27FC236}">
                <a16:creationId xmlns:a16="http://schemas.microsoft.com/office/drawing/2014/main" id="{662F85B8-A3F2-8A82-AB76-5F44C15D630D}"/>
              </a:ext>
            </a:extLst>
          </p:cNvPr>
          <p:cNvSpPr txBox="1"/>
          <p:nvPr/>
        </p:nvSpPr>
        <p:spPr>
          <a:xfrm>
            <a:off x="3730262" y="3766461"/>
            <a:ext cx="1715534" cy="369332"/>
          </a:xfrm>
          <a:prstGeom prst="rect">
            <a:avLst/>
          </a:prstGeom>
          <a:noFill/>
        </p:spPr>
        <p:txBody>
          <a:bodyPr wrap="none" rtlCol="0">
            <a:spAutoFit/>
          </a:bodyPr>
          <a:lstStyle/>
          <a:p>
            <a:r>
              <a:rPr lang="en-IN" dirty="0">
                <a:latin typeface="Rod" panose="02030509050101010101" pitchFamily="49" charset="-79"/>
                <a:cs typeface="Rod" panose="02030509050101010101" pitchFamily="49" charset="-79"/>
              </a:rPr>
              <a:t>ƒ=1/2</a:t>
            </a:r>
            <a:r>
              <a:rPr lang="el-GR" dirty="0">
                <a:latin typeface="Rod" panose="02030509050101010101" pitchFamily="49" charset="-79"/>
                <a:cs typeface="Rod" panose="02030509050101010101" pitchFamily="49" charset="-79"/>
              </a:rPr>
              <a:t>π</a:t>
            </a:r>
            <a:r>
              <a:rPr lang="en-IN" dirty="0">
                <a:latin typeface="Rod" panose="02030509050101010101" pitchFamily="49" charset="-79"/>
                <a:cs typeface="Rod" panose="02030509050101010101" pitchFamily="49" charset="-79"/>
              </a:rPr>
              <a:t> </a:t>
            </a:r>
            <a:r>
              <a:rPr lang="el-GR" dirty="0">
                <a:latin typeface="Rod" panose="02030509050101010101" pitchFamily="49" charset="-79"/>
                <a:cs typeface="Rod" panose="02030509050101010101" pitchFamily="49" charset="-79"/>
              </a:rPr>
              <a:t>√</a:t>
            </a:r>
            <a:r>
              <a:rPr lang="en-IN" dirty="0">
                <a:latin typeface="Rod" panose="02030509050101010101" pitchFamily="49" charset="-79"/>
                <a:cs typeface="Rod" panose="02030509050101010101" pitchFamily="49" charset="-79"/>
              </a:rPr>
              <a:t>k/m</a:t>
            </a:r>
            <a:endParaRPr lang="en-IN" dirty="0"/>
          </a:p>
        </p:txBody>
      </p:sp>
      <p:sp>
        <p:nvSpPr>
          <p:cNvPr id="7" name="TextBox 6">
            <a:extLst>
              <a:ext uri="{FF2B5EF4-FFF2-40B4-BE49-F238E27FC236}">
                <a16:creationId xmlns:a16="http://schemas.microsoft.com/office/drawing/2014/main" id="{37021B14-2EF8-A276-FCFB-D959DF83E76C}"/>
              </a:ext>
            </a:extLst>
          </p:cNvPr>
          <p:cNvSpPr txBox="1"/>
          <p:nvPr/>
        </p:nvSpPr>
        <p:spPr>
          <a:xfrm>
            <a:off x="3184575" y="4310664"/>
            <a:ext cx="3475888" cy="646331"/>
          </a:xfrm>
          <a:prstGeom prst="rect">
            <a:avLst/>
          </a:prstGeom>
          <a:noFill/>
        </p:spPr>
        <p:txBody>
          <a:bodyPr wrap="none" rtlCol="0">
            <a:spAutoFit/>
          </a:bodyPr>
          <a:lstStyle/>
          <a:p>
            <a:r>
              <a:rPr lang="en-IN" sz="1200" dirty="0"/>
              <a:t>When AR increases spanwise length(R) increases </a:t>
            </a:r>
          </a:p>
          <a:p>
            <a:r>
              <a:rPr lang="en-IN" sz="1200" dirty="0"/>
              <a:t>When R increased then K will decrease</a:t>
            </a:r>
          </a:p>
          <a:p>
            <a:r>
              <a:rPr lang="en-IN" sz="1200" dirty="0"/>
              <a:t>If K will decrease then resonance will also decreases.</a:t>
            </a:r>
          </a:p>
        </p:txBody>
      </p:sp>
    </p:spTree>
    <p:extLst>
      <p:ext uri="{BB962C8B-B14F-4D97-AF65-F5344CB8AC3E}">
        <p14:creationId xmlns:p14="http://schemas.microsoft.com/office/powerpoint/2010/main" val="95122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5760" y="164592"/>
            <a:ext cx="2743200" cy="201168"/>
          </a:xfrm>
          <a:prstGeom prst="rect">
            <a:avLst/>
          </a:prstGeom>
          <a:noFill/>
          <a:ln/>
        </p:spPr>
        <p:txBody>
          <a:bodyPr wrap="square" rtlCol="0" anchor="ctr"/>
          <a:lstStyle/>
          <a:p>
            <a:pPr marL="0" indent="0" algn="l">
              <a:buNone/>
            </a:pPr>
            <a:r>
              <a:rPr lang="en-US" sz="1100" b="1" kern="0" spc="300" dirty="0">
                <a:solidFill>
                  <a:srgbClr val="4A90D9"/>
                </a:solidFill>
                <a:latin typeface="Calibri" pitchFamily="34" charset="0"/>
                <a:ea typeface="Calibri" pitchFamily="34" charset="-122"/>
                <a:cs typeface="Calibri" pitchFamily="34" charset="-120"/>
              </a:rPr>
              <a:t>PARAMETER 3</a:t>
            </a:r>
            <a:endParaRPr lang="en-US" sz="11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First Area Moment (r̂₁) — Spanwise Mass Distribution</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6" name="Shape 4"/>
          <p:cNvSpPr/>
          <p:nvPr/>
        </p:nvSpPr>
        <p:spPr>
          <a:xfrm>
            <a:off x="365760" y="1600200"/>
            <a:ext cx="4023360" cy="2286000"/>
          </a:xfrm>
          <a:prstGeom prst="rect">
            <a:avLst/>
          </a:prstGeom>
          <a:solidFill>
            <a:srgbClr val="FFFFFF"/>
          </a:solidFill>
          <a:ln w="12700">
            <a:solidFill>
              <a:srgbClr val="E8EDF2"/>
            </a:solidFill>
            <a:prstDash val="solid"/>
          </a:ln>
          <a:effectLst>
            <a:outerShdw blurRad="63500" dist="25400" dir="8100000" algn="bl" rotWithShape="0">
              <a:srgbClr val="000000">
                <a:alpha val="8000"/>
              </a:srgbClr>
            </a:outerShdw>
          </a:effectLst>
        </p:spPr>
      </p:sp>
      <p:sp>
        <p:nvSpPr>
          <p:cNvPr id="7" name="Text 5"/>
          <p:cNvSpPr/>
          <p:nvPr/>
        </p:nvSpPr>
        <p:spPr>
          <a:xfrm>
            <a:off x="548640" y="1691640"/>
            <a:ext cx="3657600" cy="274320"/>
          </a:xfrm>
          <a:prstGeom prst="rect">
            <a:avLst/>
          </a:prstGeom>
          <a:noFill/>
          <a:ln/>
        </p:spPr>
        <p:txBody>
          <a:bodyPr wrap="square" rtlCol="0" anchor="ctr"/>
          <a:lstStyle/>
          <a:p>
            <a:pPr marL="0" indent="0">
              <a:buNone/>
            </a:pPr>
            <a:r>
              <a:rPr lang="en-US" sz="1200" b="1" dirty="0">
                <a:solidFill>
                  <a:srgbClr val="1E1E2E"/>
                </a:solidFill>
                <a:latin typeface="Calibri" pitchFamily="34" charset="0"/>
                <a:ea typeface="Calibri" pitchFamily="34" charset="-122"/>
                <a:cs typeface="Calibri" pitchFamily="34" charset="-120"/>
              </a:rPr>
              <a:t>Definition</a:t>
            </a:r>
            <a:endParaRPr lang="en-US" sz="1200" dirty="0"/>
          </a:p>
        </p:txBody>
      </p:sp>
      <p:sp>
        <p:nvSpPr>
          <p:cNvPr id="8" name="Text 6"/>
          <p:cNvSpPr/>
          <p:nvPr/>
        </p:nvSpPr>
        <p:spPr>
          <a:xfrm>
            <a:off x="548640" y="2011680"/>
            <a:ext cx="3657600" cy="17373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r̂₁ captures how wing area is distributed along the span. We investigate the effect of increased spanwise center of pressure.</a:t>
            </a:r>
            <a:endParaRPr lang="en-US" sz="1100" dirty="0"/>
          </a:p>
          <a:p>
            <a:pPr marL="0" indent="0">
              <a:buNone/>
            </a:pPr>
            <a:endParaRPr lang="en-US" sz="1100" dirty="0"/>
          </a:p>
          <a:p>
            <a:pPr marL="0" indent="0">
              <a:buNone/>
            </a:pPr>
            <a:r>
              <a:rPr lang="en-US" sz="1100" dirty="0">
                <a:solidFill>
                  <a:srgbClr val="6B7280"/>
                </a:solidFill>
                <a:latin typeface="Calibri" pitchFamily="34" charset="0"/>
                <a:ea typeface="Calibri" pitchFamily="34" charset="-122"/>
                <a:cs typeface="Calibri" pitchFamily="34" charset="-120"/>
              </a:rPr>
              <a:t>Higher r̂₁ → area concentrated near the tip</a:t>
            </a:r>
            <a:endParaRPr lang="en-US" sz="1100" dirty="0"/>
          </a:p>
          <a:p>
            <a:pPr marL="0" indent="0">
              <a:buNone/>
            </a:pPr>
            <a:r>
              <a:rPr lang="en-US" sz="1100" dirty="0">
                <a:solidFill>
                  <a:srgbClr val="6B7280"/>
                </a:solidFill>
                <a:latin typeface="Calibri" pitchFamily="34" charset="0"/>
                <a:ea typeface="Calibri" pitchFamily="34" charset="-122"/>
                <a:cs typeface="Calibri" pitchFamily="34" charset="-120"/>
              </a:rPr>
              <a:t>Lower r̂₁  → area concentrated near the root</a:t>
            </a:r>
            <a:endParaRPr lang="en-US" sz="1100" dirty="0"/>
          </a:p>
          <a:p>
            <a:pPr marL="0" indent="0">
              <a:buNone/>
            </a:pPr>
            <a:endParaRPr lang="en-US" sz="1100" dirty="0"/>
          </a:p>
        </p:txBody>
      </p:sp>
      <p:sp>
        <p:nvSpPr>
          <p:cNvPr id="9" name="Shape 7"/>
          <p:cNvSpPr/>
          <p:nvPr/>
        </p:nvSpPr>
        <p:spPr>
          <a:xfrm>
            <a:off x="4754880" y="1600200"/>
            <a:ext cx="4023360" cy="2286000"/>
          </a:xfrm>
          <a:prstGeom prst="rect">
            <a:avLst/>
          </a:prstGeom>
          <a:solidFill>
            <a:srgbClr val="FFFFFF"/>
          </a:solidFill>
          <a:ln w="12700">
            <a:solidFill>
              <a:srgbClr val="E8EDF2"/>
            </a:solidFill>
            <a:prstDash val="solid"/>
          </a:ln>
          <a:effectLst>
            <a:outerShdw blurRad="63500" dist="25400" dir="8100000" algn="bl" rotWithShape="0">
              <a:srgbClr val="000000">
                <a:alpha val="8000"/>
              </a:srgbClr>
            </a:outerShdw>
          </a:effectLst>
        </p:spPr>
      </p:sp>
      <p:sp>
        <p:nvSpPr>
          <p:cNvPr id="10" name="Text 8"/>
          <p:cNvSpPr/>
          <p:nvPr/>
        </p:nvSpPr>
        <p:spPr>
          <a:xfrm>
            <a:off x="4937760" y="1691640"/>
            <a:ext cx="3657600" cy="274320"/>
          </a:xfrm>
          <a:prstGeom prst="rect">
            <a:avLst/>
          </a:prstGeom>
          <a:noFill/>
          <a:ln/>
        </p:spPr>
        <p:txBody>
          <a:bodyPr wrap="square" rtlCol="0" anchor="ctr"/>
          <a:lstStyle/>
          <a:p>
            <a:pPr marL="0" indent="0">
              <a:buNone/>
            </a:pPr>
            <a:r>
              <a:rPr lang="en-US" sz="1200" b="1" dirty="0">
                <a:solidFill>
                  <a:srgbClr val="4A90D9"/>
                </a:solidFill>
                <a:latin typeface="Calibri" pitchFamily="34" charset="0"/>
                <a:ea typeface="Calibri" pitchFamily="34" charset="-122"/>
                <a:cs typeface="Calibri" pitchFamily="34" charset="-120"/>
              </a:rPr>
              <a:t>Key Finding</a:t>
            </a:r>
            <a:endParaRPr lang="en-US" sz="1200" dirty="0"/>
          </a:p>
        </p:txBody>
      </p:sp>
      <p:sp>
        <p:nvSpPr>
          <p:cNvPr id="11" name="Text 9"/>
          <p:cNvSpPr/>
          <p:nvPr/>
        </p:nvSpPr>
        <p:spPr>
          <a:xfrm>
            <a:off x="4937760" y="2011680"/>
            <a:ext cx="3657600" cy="17373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Increasing r̂₁ increases mean lift.</a:t>
            </a:r>
          </a:p>
          <a:p>
            <a:pPr marL="0" indent="0">
              <a:buNone/>
            </a:pPr>
            <a:r>
              <a:rPr lang="en-US" sz="1100" dirty="0">
                <a:solidFill>
                  <a:srgbClr val="6B7280"/>
                </a:solidFill>
                <a:latin typeface="Calibri" pitchFamily="34" charset="0"/>
                <a:ea typeface="Calibri" pitchFamily="34" charset="-122"/>
                <a:cs typeface="Calibri" pitchFamily="34" charset="-120"/>
              </a:rPr>
              <a:t>At r1=0.54 has resonance frequency 130 Hz. So, at 140 Hz it experience large deformation due to large aerodynamic loading. </a:t>
            </a:r>
            <a:endParaRPr lang="en-US" sz="1100" dirty="0"/>
          </a:p>
          <a:p>
            <a:pPr marL="0" indent="0">
              <a:buNone/>
            </a:pPr>
            <a:r>
              <a:rPr lang="en-US" sz="1100" dirty="0">
                <a:solidFill>
                  <a:srgbClr val="6B7280"/>
                </a:solidFill>
                <a:latin typeface="Calibri" pitchFamily="34" charset="0"/>
                <a:ea typeface="Calibri" pitchFamily="34" charset="-122"/>
                <a:cs typeface="Calibri" pitchFamily="34" charset="-120"/>
              </a:rPr>
              <a:t>Wing inertia changes are small (&lt;15%) so resonance frequency is barely affected.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D0312-3259-F2E3-7ABF-A9358C5033AC}"/>
              </a:ext>
            </a:extLst>
          </p:cNvPr>
          <p:cNvSpPr txBox="1"/>
          <p:nvPr/>
        </p:nvSpPr>
        <p:spPr>
          <a:xfrm>
            <a:off x="922867" y="4986867"/>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D5D05CC3-CD04-293E-4D34-CF0ABB74FAC4}"/>
              </a:ext>
            </a:extLst>
          </p:cNvPr>
          <p:cNvSpPr txBox="1"/>
          <p:nvPr/>
        </p:nvSpPr>
        <p:spPr>
          <a:xfrm>
            <a:off x="1016140" y="4642935"/>
            <a:ext cx="6864380" cy="369332"/>
          </a:xfrm>
          <a:prstGeom prst="rect">
            <a:avLst/>
          </a:prstGeom>
          <a:noFill/>
        </p:spPr>
        <p:txBody>
          <a:bodyPr wrap="none" rtlCol="0">
            <a:spAutoFit/>
          </a:bodyPr>
          <a:lstStyle/>
          <a:p>
            <a:r>
              <a:rPr lang="en-IN" dirty="0"/>
              <a:t>Figure 3.4: Wing area moment influence on aerodynamic performance.</a:t>
            </a:r>
          </a:p>
        </p:txBody>
      </p:sp>
      <p:pic>
        <p:nvPicPr>
          <p:cNvPr id="10" name="Picture 9">
            <a:extLst>
              <a:ext uri="{FF2B5EF4-FFF2-40B4-BE49-F238E27FC236}">
                <a16:creationId xmlns:a16="http://schemas.microsoft.com/office/drawing/2014/main" id="{87703CB3-50DA-7C4E-E469-12036C140FBE}"/>
              </a:ext>
            </a:extLst>
          </p:cNvPr>
          <p:cNvPicPr>
            <a:picLocks noChangeAspect="1"/>
          </p:cNvPicPr>
          <p:nvPr/>
        </p:nvPicPr>
        <p:blipFill>
          <a:blip r:embed="rId2"/>
          <a:stretch>
            <a:fillRect/>
          </a:stretch>
        </p:blipFill>
        <p:spPr>
          <a:xfrm>
            <a:off x="1263480" y="131233"/>
            <a:ext cx="6617040" cy="4362674"/>
          </a:xfrm>
          <a:prstGeom prst="rect">
            <a:avLst/>
          </a:prstGeom>
        </p:spPr>
      </p:pic>
      <p:sp>
        <p:nvSpPr>
          <p:cNvPr id="3" name="TextBox 2">
            <a:extLst>
              <a:ext uri="{FF2B5EF4-FFF2-40B4-BE49-F238E27FC236}">
                <a16:creationId xmlns:a16="http://schemas.microsoft.com/office/drawing/2014/main" id="{0B1920E9-F3B1-C1EF-5A2A-275A99A05D74}"/>
              </a:ext>
            </a:extLst>
          </p:cNvPr>
          <p:cNvSpPr txBox="1"/>
          <p:nvPr/>
        </p:nvSpPr>
        <p:spPr>
          <a:xfrm>
            <a:off x="4678681" y="2735580"/>
            <a:ext cx="2552699" cy="1015663"/>
          </a:xfrm>
          <a:prstGeom prst="rect">
            <a:avLst/>
          </a:prstGeom>
          <a:noFill/>
        </p:spPr>
        <p:txBody>
          <a:bodyPr wrap="square" rtlCol="0">
            <a:spAutoFit/>
          </a:bodyPr>
          <a:lstStyle/>
          <a:p>
            <a:r>
              <a:rPr lang="en-IN" sz="1200" dirty="0"/>
              <a:t>The wing with r1=0.54 is not following the trend because its motion has large stroke and pitch amplitude and consequently leads to noticeable wing deformation.</a:t>
            </a:r>
          </a:p>
        </p:txBody>
      </p:sp>
    </p:spTree>
    <p:extLst>
      <p:ext uri="{BB962C8B-B14F-4D97-AF65-F5344CB8AC3E}">
        <p14:creationId xmlns:p14="http://schemas.microsoft.com/office/powerpoint/2010/main" val="160194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63635" y="164592"/>
            <a:ext cx="2743200" cy="201168"/>
          </a:xfrm>
          <a:prstGeom prst="rect">
            <a:avLst/>
          </a:prstGeom>
          <a:noFill/>
          <a:ln/>
        </p:spPr>
        <p:txBody>
          <a:bodyPr wrap="square" rtlCol="0" anchor="ctr"/>
          <a:lstStyle/>
          <a:p>
            <a:pPr marL="0" indent="0" algn="l">
              <a:buNone/>
            </a:pPr>
            <a:r>
              <a:rPr lang="en-US" sz="1200" b="1" kern="0" spc="300" dirty="0">
                <a:solidFill>
                  <a:srgbClr val="4A90D9"/>
                </a:solidFill>
                <a:latin typeface="Calibri" pitchFamily="34" charset="0"/>
                <a:ea typeface="Calibri" pitchFamily="34" charset="-122"/>
                <a:cs typeface="Calibri" pitchFamily="34" charset="-120"/>
              </a:rPr>
              <a:t>PARAMETER 4</a:t>
            </a:r>
            <a:endParaRPr lang="en-US" sz="12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Leading Edge Sweep Ratio (LESR) </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5" name="Text 3"/>
          <p:cNvSpPr/>
          <p:nvPr/>
        </p:nvSpPr>
        <p:spPr>
          <a:xfrm>
            <a:off x="365760" y="1143000"/>
            <a:ext cx="8412480" cy="320040"/>
          </a:xfrm>
          <a:prstGeom prst="rect">
            <a:avLst/>
          </a:prstGeom>
          <a:noFill/>
          <a:ln/>
        </p:spPr>
        <p:txBody>
          <a:bodyPr wrap="square" rtlCol="0" anchor="ctr"/>
          <a:lstStyle/>
          <a:p>
            <a:pPr marL="0" indent="0">
              <a:buNone/>
            </a:pPr>
            <a:r>
              <a:rPr lang="en-US" sz="1100" b="1" dirty="0">
                <a:solidFill>
                  <a:srgbClr val="4A90D9"/>
                </a:solidFill>
                <a:latin typeface="Calibri" pitchFamily="34" charset="0"/>
                <a:ea typeface="Calibri" pitchFamily="34" charset="-122"/>
                <a:cs typeface="Calibri" pitchFamily="34" charset="-120"/>
              </a:rPr>
              <a:t>LESR </a:t>
            </a:r>
            <a:r>
              <a:rPr lang="en-US" sz="1100" dirty="0">
                <a:solidFill>
                  <a:srgbClr val="6B7280"/>
                </a:solidFill>
                <a:latin typeface="Calibri" pitchFamily="34" charset="0"/>
                <a:ea typeface="Calibri" pitchFamily="34" charset="-122"/>
                <a:cs typeface="Calibri" pitchFamily="34" charset="-120"/>
              </a:rPr>
              <a:t>scales the profile of the leading-edge spar. Range: 0.5 → 1.75</a:t>
            </a:r>
            <a:endParaRPr lang="en-US" sz="1100" dirty="0"/>
          </a:p>
        </p:txBody>
      </p:sp>
      <p:sp>
        <p:nvSpPr>
          <p:cNvPr id="6" name="Shape 4"/>
          <p:cNvSpPr/>
          <p:nvPr/>
        </p:nvSpPr>
        <p:spPr>
          <a:xfrm>
            <a:off x="350521" y="1623822"/>
            <a:ext cx="2651760" cy="2834640"/>
          </a:xfrm>
          <a:prstGeom prst="rect">
            <a:avLst/>
          </a:prstGeom>
          <a:solidFill>
            <a:srgbClr val="FFFFFF"/>
          </a:solidFill>
          <a:ln w="12700">
            <a:solidFill>
              <a:srgbClr val="E8EDF2"/>
            </a:solidFill>
            <a:prstDash val="solid"/>
          </a:ln>
          <a:effectLst>
            <a:outerShdw blurRad="63500" dist="25400" dir="8100000" algn="bl" rotWithShape="0">
              <a:srgbClr val="000000">
                <a:alpha val="8000"/>
              </a:srgbClr>
            </a:outerShdw>
          </a:effectLst>
        </p:spPr>
      </p:sp>
      <p:sp>
        <p:nvSpPr>
          <p:cNvPr id="7" name="Shape 5"/>
          <p:cNvSpPr/>
          <p:nvPr/>
        </p:nvSpPr>
        <p:spPr>
          <a:xfrm>
            <a:off x="365760" y="1627632"/>
            <a:ext cx="2651760" cy="73152"/>
          </a:xfrm>
          <a:prstGeom prst="rect">
            <a:avLst/>
          </a:prstGeom>
          <a:solidFill>
            <a:srgbClr val="4A90D9"/>
          </a:solidFill>
          <a:ln w="12700">
            <a:solidFill>
              <a:srgbClr val="4A90D9"/>
            </a:solidFill>
            <a:prstDash val="solid"/>
          </a:ln>
        </p:spPr>
      </p:sp>
      <p:sp>
        <p:nvSpPr>
          <p:cNvPr id="12" name="Shape 10"/>
          <p:cNvSpPr/>
          <p:nvPr/>
        </p:nvSpPr>
        <p:spPr>
          <a:xfrm>
            <a:off x="3218688" y="1627632"/>
            <a:ext cx="2651760" cy="2834640"/>
          </a:xfrm>
          <a:prstGeom prst="rect">
            <a:avLst/>
          </a:prstGeom>
          <a:solidFill>
            <a:srgbClr val="FFFFFF"/>
          </a:solidFill>
          <a:ln w="12700">
            <a:solidFill>
              <a:srgbClr val="E8EDF2"/>
            </a:solidFill>
            <a:prstDash val="solid"/>
          </a:ln>
          <a:effectLst>
            <a:outerShdw blurRad="63500" dist="25400" dir="8100000" algn="bl" rotWithShape="0">
              <a:srgbClr val="000000">
                <a:alpha val="8000"/>
              </a:srgbClr>
            </a:outerShdw>
          </a:effectLst>
        </p:spPr>
      </p:sp>
      <p:sp>
        <p:nvSpPr>
          <p:cNvPr id="13" name="Shape 11"/>
          <p:cNvSpPr/>
          <p:nvPr/>
        </p:nvSpPr>
        <p:spPr>
          <a:xfrm>
            <a:off x="3218688" y="1627632"/>
            <a:ext cx="2651760" cy="73152"/>
          </a:xfrm>
          <a:prstGeom prst="rect">
            <a:avLst/>
          </a:prstGeom>
          <a:solidFill>
            <a:srgbClr val="4A90D9"/>
          </a:solidFill>
          <a:ln w="12700">
            <a:solidFill>
              <a:srgbClr val="4A90D9"/>
            </a:solidFill>
            <a:prstDash val="solid"/>
          </a:ln>
        </p:spPr>
      </p:sp>
      <p:sp>
        <p:nvSpPr>
          <p:cNvPr id="18" name="Shape 16"/>
          <p:cNvSpPr/>
          <p:nvPr/>
        </p:nvSpPr>
        <p:spPr>
          <a:xfrm>
            <a:off x="6071616" y="1627632"/>
            <a:ext cx="2651760" cy="2834640"/>
          </a:xfrm>
          <a:prstGeom prst="rect">
            <a:avLst/>
          </a:prstGeom>
          <a:solidFill>
            <a:srgbClr val="FFFFFF"/>
          </a:solidFill>
          <a:ln w="12700">
            <a:solidFill>
              <a:srgbClr val="E8EDF2"/>
            </a:solidFill>
            <a:prstDash val="solid"/>
          </a:ln>
          <a:effectLst>
            <a:outerShdw blurRad="63500" dist="25400" dir="8100000" algn="bl" rotWithShape="0">
              <a:srgbClr val="000000">
                <a:alpha val="8000"/>
              </a:srgbClr>
            </a:outerShdw>
          </a:effectLst>
        </p:spPr>
      </p:sp>
      <p:sp>
        <p:nvSpPr>
          <p:cNvPr id="19" name="Shape 17"/>
          <p:cNvSpPr/>
          <p:nvPr/>
        </p:nvSpPr>
        <p:spPr>
          <a:xfrm>
            <a:off x="6071616" y="1627632"/>
            <a:ext cx="2651760" cy="73152"/>
          </a:xfrm>
          <a:prstGeom prst="rect">
            <a:avLst/>
          </a:prstGeom>
          <a:solidFill>
            <a:srgbClr val="4A90D9"/>
          </a:solidFill>
          <a:ln w="12700">
            <a:solidFill>
              <a:srgbClr val="4A90D9"/>
            </a:solidFill>
            <a:prstDash val="solid"/>
          </a:ln>
        </p:spPr>
      </p:sp>
      <p:sp>
        <p:nvSpPr>
          <p:cNvPr id="24" name="TextBox 23">
            <a:extLst>
              <a:ext uri="{FF2B5EF4-FFF2-40B4-BE49-F238E27FC236}">
                <a16:creationId xmlns:a16="http://schemas.microsoft.com/office/drawing/2014/main" id="{22407C6A-5FB8-C595-7321-F251D15E39CB}"/>
              </a:ext>
            </a:extLst>
          </p:cNvPr>
          <p:cNvSpPr txBox="1"/>
          <p:nvPr/>
        </p:nvSpPr>
        <p:spPr>
          <a:xfrm>
            <a:off x="723900" y="2242388"/>
            <a:ext cx="1935480" cy="1569660"/>
          </a:xfrm>
          <a:prstGeom prst="rect">
            <a:avLst/>
          </a:prstGeom>
          <a:noFill/>
        </p:spPr>
        <p:txBody>
          <a:bodyPr wrap="square" rtlCol="0">
            <a:spAutoFit/>
          </a:bodyPr>
          <a:lstStyle/>
          <a:p>
            <a:r>
              <a:rPr lang="en-IN" sz="1200" dirty="0"/>
              <a:t>Positive wing leading edge sweep can facilitate the growth of the wing tip vortex that enhances lift. When we increase the LESR, it will reduce the formation of the vortex that’s why the lift decreased significantly.</a:t>
            </a:r>
          </a:p>
        </p:txBody>
      </p:sp>
      <p:sp>
        <p:nvSpPr>
          <p:cNvPr id="25" name="TextBox 24">
            <a:extLst>
              <a:ext uri="{FF2B5EF4-FFF2-40B4-BE49-F238E27FC236}">
                <a16:creationId xmlns:a16="http://schemas.microsoft.com/office/drawing/2014/main" id="{27BF08A0-0A58-3219-BB50-7F25B0CC0E40}"/>
              </a:ext>
            </a:extLst>
          </p:cNvPr>
          <p:cNvSpPr txBox="1"/>
          <p:nvPr/>
        </p:nvSpPr>
        <p:spPr>
          <a:xfrm>
            <a:off x="3505201" y="2611720"/>
            <a:ext cx="1920240" cy="830997"/>
          </a:xfrm>
          <a:prstGeom prst="rect">
            <a:avLst/>
          </a:prstGeom>
          <a:noFill/>
        </p:spPr>
        <p:txBody>
          <a:bodyPr wrap="square" rtlCol="0">
            <a:spAutoFit/>
          </a:bodyPr>
          <a:lstStyle/>
          <a:p>
            <a:r>
              <a:rPr lang="en-IN" sz="1200" dirty="0"/>
              <a:t>Varying the LESR changes the chordwise centre of pressure, which affects wing pitching.</a:t>
            </a:r>
          </a:p>
        </p:txBody>
      </p:sp>
      <p:pic>
        <p:nvPicPr>
          <p:cNvPr id="28" name="Picture 27">
            <a:extLst>
              <a:ext uri="{FF2B5EF4-FFF2-40B4-BE49-F238E27FC236}">
                <a16:creationId xmlns:a16="http://schemas.microsoft.com/office/drawing/2014/main" id="{CFD1F307-BE06-6CE0-5E2B-F4A6A98F6985}"/>
              </a:ext>
            </a:extLst>
          </p:cNvPr>
          <p:cNvPicPr>
            <a:picLocks noChangeAspect="1"/>
          </p:cNvPicPr>
          <p:nvPr/>
        </p:nvPicPr>
        <p:blipFill>
          <a:blip r:embed="rId3"/>
          <a:stretch>
            <a:fillRect/>
          </a:stretch>
        </p:blipFill>
        <p:spPr>
          <a:xfrm>
            <a:off x="6595719" y="2449338"/>
            <a:ext cx="997001" cy="577880"/>
          </a:xfrm>
          <a:prstGeom prst="rect">
            <a:avLst/>
          </a:prstGeom>
        </p:spPr>
      </p:pic>
      <p:sp>
        <p:nvSpPr>
          <p:cNvPr id="29" name="TextBox 28">
            <a:extLst>
              <a:ext uri="{FF2B5EF4-FFF2-40B4-BE49-F238E27FC236}">
                <a16:creationId xmlns:a16="http://schemas.microsoft.com/office/drawing/2014/main" id="{A09CE141-70F9-0E74-926A-E928B258976C}"/>
              </a:ext>
            </a:extLst>
          </p:cNvPr>
          <p:cNvSpPr txBox="1"/>
          <p:nvPr/>
        </p:nvSpPr>
        <p:spPr>
          <a:xfrm>
            <a:off x="6281472" y="3076823"/>
            <a:ext cx="2202180" cy="830997"/>
          </a:xfrm>
          <a:prstGeom prst="rect">
            <a:avLst/>
          </a:prstGeom>
          <a:noFill/>
        </p:spPr>
        <p:txBody>
          <a:bodyPr wrap="square" rtlCol="0">
            <a:spAutoFit/>
          </a:bodyPr>
          <a:lstStyle/>
          <a:p>
            <a:r>
              <a:rPr lang="en-IN" sz="1200" dirty="0"/>
              <a:t>As the chordwise moment of inertia(Izz) is varying only a small range 40-43 that’s why the frequency is constant.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2EC922-FF09-3B88-7115-9B7A0DE04360}"/>
              </a:ext>
            </a:extLst>
          </p:cNvPr>
          <p:cNvSpPr txBox="1"/>
          <p:nvPr/>
        </p:nvSpPr>
        <p:spPr>
          <a:xfrm>
            <a:off x="686962" y="4522569"/>
            <a:ext cx="7893508" cy="646331"/>
          </a:xfrm>
          <a:prstGeom prst="rect">
            <a:avLst/>
          </a:prstGeom>
          <a:noFill/>
        </p:spPr>
        <p:txBody>
          <a:bodyPr wrap="none" rtlCol="0">
            <a:spAutoFit/>
          </a:bodyPr>
          <a:lstStyle/>
          <a:p>
            <a:r>
              <a:rPr lang="en-IN" dirty="0"/>
              <a:t>Figure 3.5: Wing leading edge sweep ratio influence on aerodynamic performance</a:t>
            </a:r>
          </a:p>
          <a:p>
            <a:r>
              <a:rPr lang="en-IN" dirty="0"/>
              <a:t>and pitching kinematics.</a:t>
            </a:r>
          </a:p>
        </p:txBody>
      </p:sp>
      <p:pic>
        <p:nvPicPr>
          <p:cNvPr id="6" name="Picture 5">
            <a:extLst>
              <a:ext uri="{FF2B5EF4-FFF2-40B4-BE49-F238E27FC236}">
                <a16:creationId xmlns:a16="http://schemas.microsoft.com/office/drawing/2014/main" id="{C85096C9-E7FE-36C5-0192-2A3539B1B168}"/>
              </a:ext>
            </a:extLst>
          </p:cNvPr>
          <p:cNvPicPr>
            <a:picLocks noChangeAspect="1"/>
          </p:cNvPicPr>
          <p:nvPr/>
        </p:nvPicPr>
        <p:blipFill>
          <a:blip r:embed="rId2"/>
          <a:stretch>
            <a:fillRect/>
          </a:stretch>
        </p:blipFill>
        <p:spPr>
          <a:xfrm>
            <a:off x="1409537" y="405237"/>
            <a:ext cx="6324925" cy="4045158"/>
          </a:xfrm>
          <a:prstGeom prst="rect">
            <a:avLst/>
          </a:prstGeom>
        </p:spPr>
      </p:pic>
    </p:spTree>
    <p:extLst>
      <p:ext uri="{BB962C8B-B14F-4D97-AF65-F5344CB8AC3E}">
        <p14:creationId xmlns:p14="http://schemas.microsoft.com/office/powerpoint/2010/main" val="45165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5760" y="164592"/>
            <a:ext cx="2743200" cy="201168"/>
          </a:xfrm>
          <a:prstGeom prst="rect">
            <a:avLst/>
          </a:prstGeom>
          <a:noFill/>
          <a:ln/>
        </p:spPr>
        <p:txBody>
          <a:bodyPr wrap="square" rtlCol="0" anchor="ctr"/>
          <a:lstStyle/>
          <a:p>
            <a:pPr marL="0" indent="0" algn="l">
              <a:buNone/>
            </a:pPr>
            <a:r>
              <a:rPr lang="en-US" sz="1100" b="1" kern="0" spc="300" dirty="0">
                <a:solidFill>
                  <a:srgbClr val="4A90D9"/>
                </a:solidFill>
                <a:latin typeface="Calibri" pitchFamily="34" charset="0"/>
                <a:ea typeface="Calibri" pitchFamily="34" charset="-122"/>
                <a:cs typeface="Calibri" pitchFamily="34" charset="-120"/>
              </a:rPr>
              <a:t>PARAMETER 5</a:t>
            </a:r>
            <a:endParaRPr lang="en-US" sz="1100" dirty="0"/>
          </a:p>
        </p:txBody>
      </p:sp>
      <p:sp>
        <p:nvSpPr>
          <p:cNvPr id="3" name="Text 1"/>
          <p:cNvSpPr/>
          <p:nvPr/>
        </p:nvSpPr>
        <p:spPr>
          <a:xfrm>
            <a:off x="365760" y="384048"/>
            <a:ext cx="8412480" cy="548640"/>
          </a:xfrm>
          <a:prstGeom prst="rect">
            <a:avLst/>
          </a:prstGeom>
          <a:noFill/>
          <a:ln/>
        </p:spPr>
        <p:txBody>
          <a:bodyPr wrap="square" rtlCol="0" anchor="ctr"/>
          <a:lstStyle/>
          <a:p>
            <a:pPr marL="0" indent="0" algn="l">
              <a:buNone/>
            </a:pPr>
            <a:r>
              <a:rPr lang="en-US" sz="2600" b="1" dirty="0">
                <a:solidFill>
                  <a:srgbClr val="1E1E2E"/>
                </a:solidFill>
                <a:latin typeface="Calibri" pitchFamily="34" charset="0"/>
                <a:ea typeface="Calibri" pitchFamily="34" charset="-122"/>
                <a:cs typeface="Calibri" pitchFamily="34" charset="-120"/>
              </a:rPr>
              <a:t>Wing Size</a:t>
            </a:r>
            <a:endParaRPr lang="en-US" sz="2600" dirty="0"/>
          </a:p>
        </p:txBody>
      </p:sp>
      <p:sp>
        <p:nvSpPr>
          <p:cNvPr id="4" name="Shape 2"/>
          <p:cNvSpPr/>
          <p:nvPr/>
        </p:nvSpPr>
        <p:spPr>
          <a:xfrm>
            <a:off x="365760" y="987552"/>
            <a:ext cx="8412480" cy="22860"/>
          </a:xfrm>
          <a:prstGeom prst="rect">
            <a:avLst/>
          </a:prstGeom>
          <a:solidFill>
            <a:srgbClr val="4A90D9"/>
          </a:solidFill>
          <a:ln w="12700">
            <a:solidFill>
              <a:srgbClr val="4A90D9"/>
            </a:solidFill>
            <a:prstDash val="solid"/>
          </a:ln>
        </p:spPr>
      </p:sp>
      <p:sp>
        <p:nvSpPr>
          <p:cNvPr id="5" name="Text 3"/>
          <p:cNvSpPr/>
          <p:nvPr/>
        </p:nvSpPr>
        <p:spPr>
          <a:xfrm>
            <a:off x="365760" y="1143000"/>
            <a:ext cx="8412480" cy="411480"/>
          </a:xfrm>
          <a:prstGeom prst="rect">
            <a:avLst/>
          </a:prstGeom>
          <a:noFill/>
          <a:ln/>
        </p:spPr>
        <p:txBody>
          <a:bodyPr wrap="square" rtlCol="0" anchor="ctr"/>
          <a:lstStyle/>
          <a:p>
            <a:pPr marL="0" indent="0">
              <a:buNone/>
            </a:pPr>
            <a:r>
              <a:rPr lang="en-US" sz="1100" b="1" dirty="0">
                <a:solidFill>
                  <a:srgbClr val="4A90D9"/>
                </a:solidFill>
                <a:latin typeface="Calibri" pitchFamily="34" charset="0"/>
                <a:ea typeface="Calibri" pitchFamily="34" charset="-122"/>
                <a:cs typeface="Calibri" pitchFamily="34" charset="-120"/>
              </a:rPr>
              <a:t>Wing size </a:t>
            </a:r>
            <a:r>
              <a:rPr lang="en-US" sz="1100" dirty="0">
                <a:solidFill>
                  <a:srgbClr val="6B7280"/>
                </a:solidFill>
                <a:latin typeface="Calibri" pitchFamily="34" charset="0"/>
                <a:ea typeface="Calibri" pitchFamily="34" charset="-122"/>
                <a:cs typeface="Calibri" pitchFamily="34" charset="-120"/>
              </a:rPr>
              <a:t>was varied by pairing different wing areas with the same actuator. Smaller wings → higher resonance → higher lift, but higher power.</a:t>
            </a:r>
            <a:endParaRPr lang="en-US" sz="1100" dirty="0"/>
          </a:p>
        </p:txBody>
      </p:sp>
      <p:sp>
        <p:nvSpPr>
          <p:cNvPr id="6" name="Shape 4"/>
          <p:cNvSpPr/>
          <p:nvPr/>
        </p:nvSpPr>
        <p:spPr>
          <a:xfrm>
            <a:off x="365760" y="3009901"/>
            <a:ext cx="8412480" cy="621792"/>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7" name="Text 5"/>
          <p:cNvSpPr/>
          <p:nvPr/>
        </p:nvSpPr>
        <p:spPr>
          <a:xfrm>
            <a:off x="365760" y="3073148"/>
            <a:ext cx="2286000" cy="530352"/>
          </a:xfrm>
          <a:prstGeom prst="rect">
            <a:avLst/>
          </a:prstGeom>
          <a:noFill/>
          <a:ln/>
        </p:spPr>
        <p:txBody>
          <a:bodyPr wrap="square" rtlCol="0" anchor="ctr"/>
          <a:lstStyle/>
          <a:p>
            <a:pPr marL="0" indent="0" algn="ctr">
              <a:buNone/>
            </a:pPr>
            <a:r>
              <a:rPr lang="en-US" sz="1400" b="1" dirty="0">
                <a:solidFill>
                  <a:srgbClr val="4A90D9"/>
                </a:solidFill>
                <a:latin typeface="Calibri" pitchFamily="34" charset="0"/>
                <a:ea typeface="Calibri" pitchFamily="34" charset="-122"/>
                <a:cs typeface="Calibri" pitchFamily="34" charset="-120"/>
              </a:rPr>
              <a:t>f  ∝  1 / R²</a:t>
            </a:r>
            <a:endParaRPr lang="en-US" sz="1400" dirty="0"/>
          </a:p>
        </p:txBody>
      </p:sp>
      <p:sp>
        <p:nvSpPr>
          <p:cNvPr id="8" name="Shape 6"/>
          <p:cNvSpPr/>
          <p:nvPr/>
        </p:nvSpPr>
        <p:spPr>
          <a:xfrm>
            <a:off x="2763012" y="3170684"/>
            <a:ext cx="18288" cy="384048"/>
          </a:xfrm>
          <a:prstGeom prst="rect">
            <a:avLst/>
          </a:prstGeom>
          <a:solidFill>
            <a:srgbClr val="E8EDF2"/>
          </a:solidFill>
          <a:ln w="12700">
            <a:solidFill>
              <a:srgbClr val="E8EDF2"/>
            </a:solidFill>
            <a:prstDash val="solid"/>
          </a:ln>
        </p:spPr>
      </p:sp>
      <p:sp>
        <p:nvSpPr>
          <p:cNvPr id="9" name="Text 7"/>
          <p:cNvSpPr/>
          <p:nvPr/>
        </p:nvSpPr>
        <p:spPr>
          <a:xfrm>
            <a:off x="2945130" y="3055621"/>
            <a:ext cx="5669280" cy="530352"/>
          </a:xfrm>
          <a:prstGeom prst="rect">
            <a:avLst/>
          </a:prstGeom>
          <a:noFill/>
          <a:ln/>
        </p:spPr>
        <p:txBody>
          <a:bodyPr wrap="square" rtlCol="0" anchor="ctr"/>
          <a:lstStyle/>
          <a:p>
            <a:pPr marL="0" indent="0">
              <a:buNone/>
            </a:pPr>
            <a:r>
              <a:rPr lang="en-US" sz="1050" dirty="0">
                <a:solidFill>
                  <a:srgbClr val="1E1E2E"/>
                </a:solidFill>
                <a:latin typeface="Calibri" pitchFamily="34" charset="0"/>
                <a:ea typeface="Calibri" pitchFamily="34" charset="-122"/>
                <a:cs typeface="Calibri" pitchFamily="34" charset="-120"/>
              </a:rPr>
              <a:t>Resonance frequency scales inversely with span squared</a:t>
            </a:r>
            <a:endParaRPr lang="en-US" sz="1050" dirty="0"/>
          </a:p>
        </p:txBody>
      </p:sp>
      <p:sp>
        <p:nvSpPr>
          <p:cNvPr id="18" name="Shape 16"/>
          <p:cNvSpPr/>
          <p:nvPr/>
        </p:nvSpPr>
        <p:spPr>
          <a:xfrm>
            <a:off x="365760" y="3898393"/>
            <a:ext cx="8412480" cy="914400"/>
          </a:xfrm>
          <a:prstGeom prst="rect">
            <a:avLst/>
          </a:prstGeom>
          <a:solidFill>
            <a:srgbClr val="4A90D9"/>
          </a:solidFill>
          <a:ln w="12700">
            <a:solidFill>
              <a:srgbClr val="4A90D9"/>
            </a:solidFill>
            <a:prstDash val="solid"/>
          </a:ln>
        </p:spPr>
      </p:sp>
      <p:sp>
        <p:nvSpPr>
          <p:cNvPr id="19" name="Text 17"/>
          <p:cNvSpPr/>
          <p:nvPr/>
        </p:nvSpPr>
        <p:spPr>
          <a:xfrm>
            <a:off x="365759" y="3909062"/>
            <a:ext cx="8412479" cy="9144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Optimised Result: </a:t>
            </a:r>
            <a:r>
              <a:rPr lang="en-US" sz="1150" dirty="0">
                <a:solidFill>
                  <a:srgbClr val="FFFFFF"/>
                </a:solidFill>
                <a:latin typeface="Calibri" pitchFamily="34" charset="0"/>
                <a:ea typeface="Calibri" pitchFamily="34" charset="-122"/>
                <a:cs typeface="Calibri" pitchFamily="34" charset="-120"/>
              </a:rPr>
              <a:t>25% smaller span  |  76% lower </a:t>
            </a:r>
            <a:r>
              <a:rPr lang="en-US" sz="1150" noProof="1">
                <a:solidFill>
                  <a:srgbClr val="FFFFFF"/>
                </a:solidFill>
                <a:latin typeface="Calibri" pitchFamily="34" charset="0"/>
                <a:ea typeface="Calibri" pitchFamily="34" charset="-122"/>
                <a:cs typeface="Calibri" pitchFamily="34" charset="-120"/>
              </a:rPr>
              <a:t>Ixx</a:t>
            </a:r>
            <a:r>
              <a:rPr lang="en-US" sz="1150" dirty="0">
                <a:solidFill>
                  <a:srgbClr val="FFFFFF"/>
                </a:solidFill>
                <a:latin typeface="Calibri" pitchFamily="34" charset="0"/>
                <a:ea typeface="Calibri" pitchFamily="34" charset="-122"/>
                <a:cs typeface="Calibri" pitchFamily="34" charset="-120"/>
              </a:rPr>
              <a:t>  |  37% more lift  |  70% more power dissipation</a:t>
            </a:r>
            <a:endParaRPr lang="en-US" sz="1150" dirty="0"/>
          </a:p>
        </p:txBody>
      </p:sp>
      <p:sp>
        <p:nvSpPr>
          <p:cNvPr id="11" name="Shape 4">
            <a:extLst>
              <a:ext uri="{FF2B5EF4-FFF2-40B4-BE49-F238E27FC236}">
                <a16:creationId xmlns:a16="http://schemas.microsoft.com/office/drawing/2014/main" id="{C9FB21FA-F7A1-A142-F42D-D30D402D7E87}"/>
              </a:ext>
            </a:extLst>
          </p:cNvPr>
          <p:cNvSpPr/>
          <p:nvPr/>
        </p:nvSpPr>
        <p:spPr>
          <a:xfrm>
            <a:off x="381000" y="1577341"/>
            <a:ext cx="8412480" cy="621792"/>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12" name="Text 5">
            <a:extLst>
              <a:ext uri="{FF2B5EF4-FFF2-40B4-BE49-F238E27FC236}">
                <a16:creationId xmlns:a16="http://schemas.microsoft.com/office/drawing/2014/main" id="{27CE422F-B205-63E4-E5C3-7DCB365A55C3}"/>
              </a:ext>
            </a:extLst>
          </p:cNvPr>
          <p:cNvSpPr/>
          <p:nvPr/>
        </p:nvSpPr>
        <p:spPr>
          <a:xfrm>
            <a:off x="381000" y="1640588"/>
            <a:ext cx="2286000" cy="530352"/>
          </a:xfrm>
          <a:prstGeom prst="rect">
            <a:avLst/>
          </a:prstGeom>
          <a:noFill/>
          <a:ln/>
        </p:spPr>
        <p:txBody>
          <a:bodyPr wrap="square" rtlCol="0" anchor="ctr"/>
          <a:lstStyle/>
          <a:p>
            <a:pPr algn="ctr"/>
            <a:r>
              <a:rPr lang="en-US" sz="1400" b="1" dirty="0">
                <a:solidFill>
                  <a:srgbClr val="4A90D9"/>
                </a:solidFill>
                <a:latin typeface="Calibri" pitchFamily="34" charset="0"/>
                <a:ea typeface="Calibri" pitchFamily="34" charset="-122"/>
                <a:cs typeface="Calibri" pitchFamily="34" charset="-120"/>
              </a:rPr>
              <a:t>f  = √K</a:t>
            </a:r>
            <a:r>
              <a:rPr lang="en-US" sz="1000" dirty="0">
                <a:solidFill>
                  <a:srgbClr val="4A90D9"/>
                </a:solidFill>
                <a:latin typeface="Calibri" pitchFamily="34" charset="0"/>
                <a:ea typeface="Calibri" pitchFamily="34" charset="-122"/>
                <a:cs typeface="Calibri" pitchFamily="34" charset="-120"/>
              </a:rPr>
              <a:t>eq</a:t>
            </a:r>
            <a:r>
              <a:rPr lang="en-US" sz="1400" b="1" dirty="0">
                <a:solidFill>
                  <a:srgbClr val="4A90D9"/>
                </a:solidFill>
                <a:latin typeface="Calibri" pitchFamily="34" charset="0"/>
                <a:ea typeface="Calibri" pitchFamily="34" charset="-122"/>
                <a:cs typeface="Calibri" pitchFamily="34" charset="-120"/>
              </a:rPr>
              <a:t>/T^2*I</a:t>
            </a:r>
            <a:r>
              <a:rPr lang="en-US" sz="1000" b="1" dirty="0">
                <a:solidFill>
                  <a:srgbClr val="4A90D9"/>
                </a:solidFill>
                <a:latin typeface="Calibri" pitchFamily="34" charset="0"/>
                <a:ea typeface="Calibri" pitchFamily="34" charset="-122"/>
                <a:cs typeface="Calibri" pitchFamily="34" charset="-120"/>
              </a:rPr>
              <a:t>zz</a:t>
            </a:r>
            <a:endParaRPr lang="en-US" sz="1000" dirty="0"/>
          </a:p>
        </p:txBody>
      </p:sp>
      <p:sp>
        <p:nvSpPr>
          <p:cNvPr id="13" name="Shape 6">
            <a:extLst>
              <a:ext uri="{FF2B5EF4-FFF2-40B4-BE49-F238E27FC236}">
                <a16:creationId xmlns:a16="http://schemas.microsoft.com/office/drawing/2014/main" id="{62D8250E-CC46-0307-98F7-B4EA9F709BAF}"/>
              </a:ext>
            </a:extLst>
          </p:cNvPr>
          <p:cNvSpPr/>
          <p:nvPr/>
        </p:nvSpPr>
        <p:spPr>
          <a:xfrm>
            <a:off x="2778252" y="1738124"/>
            <a:ext cx="18288" cy="384048"/>
          </a:xfrm>
          <a:prstGeom prst="rect">
            <a:avLst/>
          </a:prstGeom>
          <a:solidFill>
            <a:srgbClr val="E8EDF2"/>
          </a:solidFill>
          <a:ln w="12700">
            <a:solidFill>
              <a:srgbClr val="E8EDF2"/>
            </a:solidFill>
            <a:prstDash val="solid"/>
          </a:ln>
        </p:spPr>
      </p:sp>
      <p:sp>
        <p:nvSpPr>
          <p:cNvPr id="14" name="Text 7">
            <a:extLst>
              <a:ext uri="{FF2B5EF4-FFF2-40B4-BE49-F238E27FC236}">
                <a16:creationId xmlns:a16="http://schemas.microsoft.com/office/drawing/2014/main" id="{986CDD00-69F7-C986-187B-40D1082F0AFE}"/>
              </a:ext>
            </a:extLst>
          </p:cNvPr>
          <p:cNvSpPr/>
          <p:nvPr/>
        </p:nvSpPr>
        <p:spPr>
          <a:xfrm>
            <a:off x="2960370" y="1623061"/>
            <a:ext cx="5669280" cy="530352"/>
          </a:xfrm>
          <a:prstGeom prst="rect">
            <a:avLst/>
          </a:prstGeom>
          <a:noFill/>
          <a:ln/>
        </p:spPr>
        <p:txBody>
          <a:bodyPr wrap="square" rtlCol="0" anchor="ctr"/>
          <a:lstStyle/>
          <a:p>
            <a:pPr marL="0" indent="0">
              <a:buNone/>
            </a:pPr>
            <a:r>
              <a:rPr lang="en-US" sz="1050" dirty="0">
                <a:solidFill>
                  <a:srgbClr val="1E1E2E"/>
                </a:solidFill>
                <a:latin typeface="Calibri" pitchFamily="34" charset="0"/>
                <a:ea typeface="Calibri" pitchFamily="34" charset="-122"/>
                <a:cs typeface="Calibri" pitchFamily="34" charset="-120"/>
              </a:rPr>
              <a:t>Resonance frequency scales inversely Izz</a:t>
            </a:r>
            <a:endParaRPr lang="en-US" sz="1050" dirty="0"/>
          </a:p>
        </p:txBody>
      </p:sp>
      <p:sp>
        <p:nvSpPr>
          <p:cNvPr id="23" name="Shape 4">
            <a:extLst>
              <a:ext uri="{FF2B5EF4-FFF2-40B4-BE49-F238E27FC236}">
                <a16:creationId xmlns:a16="http://schemas.microsoft.com/office/drawing/2014/main" id="{4569AED7-EF1A-6374-20CA-1E8439293416}"/>
              </a:ext>
            </a:extLst>
          </p:cNvPr>
          <p:cNvSpPr/>
          <p:nvPr/>
        </p:nvSpPr>
        <p:spPr>
          <a:xfrm>
            <a:off x="373380" y="2301241"/>
            <a:ext cx="8412480" cy="621792"/>
          </a:xfrm>
          <a:prstGeom prst="rect">
            <a:avLst/>
          </a:prstGeom>
          <a:solidFill>
            <a:srgbClr val="FFFFFF"/>
          </a:solidFill>
          <a:ln w="12700">
            <a:solidFill>
              <a:srgbClr val="E8EDF2"/>
            </a:solidFill>
            <a:prstDash val="solid"/>
          </a:ln>
          <a:effectLst>
            <a:outerShdw blurRad="50800" dist="12700" dir="8100000" algn="bl" rotWithShape="0">
              <a:srgbClr val="000000">
                <a:alpha val="7000"/>
              </a:srgbClr>
            </a:outerShdw>
          </a:effectLst>
        </p:spPr>
      </p:sp>
      <p:sp>
        <p:nvSpPr>
          <p:cNvPr id="24" name="Text 5">
            <a:extLst>
              <a:ext uri="{FF2B5EF4-FFF2-40B4-BE49-F238E27FC236}">
                <a16:creationId xmlns:a16="http://schemas.microsoft.com/office/drawing/2014/main" id="{68611D65-907E-01CE-4B16-8364630CB7EA}"/>
              </a:ext>
            </a:extLst>
          </p:cNvPr>
          <p:cNvSpPr/>
          <p:nvPr/>
        </p:nvSpPr>
        <p:spPr>
          <a:xfrm>
            <a:off x="373380" y="2364488"/>
            <a:ext cx="2286000" cy="530352"/>
          </a:xfrm>
          <a:prstGeom prst="rect">
            <a:avLst/>
          </a:prstGeom>
          <a:noFill/>
          <a:ln/>
        </p:spPr>
        <p:txBody>
          <a:bodyPr wrap="square" rtlCol="0" anchor="ctr"/>
          <a:lstStyle/>
          <a:p>
            <a:pPr marL="0" indent="0" algn="ctr">
              <a:buNone/>
            </a:pPr>
            <a:r>
              <a:rPr lang="en-US" sz="1400" b="1" dirty="0">
                <a:solidFill>
                  <a:srgbClr val="4A90D9"/>
                </a:solidFill>
                <a:latin typeface="Calibri" pitchFamily="34" charset="0"/>
                <a:ea typeface="Calibri" pitchFamily="34" charset="-122"/>
                <a:cs typeface="Calibri" pitchFamily="34" charset="-120"/>
              </a:rPr>
              <a:t>I</a:t>
            </a:r>
            <a:r>
              <a:rPr lang="en-US" sz="1000" b="1" dirty="0">
                <a:solidFill>
                  <a:srgbClr val="4A90D9"/>
                </a:solidFill>
                <a:latin typeface="Calibri" pitchFamily="34" charset="0"/>
                <a:ea typeface="Calibri" pitchFamily="34" charset="-122"/>
                <a:cs typeface="Calibri" pitchFamily="34" charset="-120"/>
              </a:rPr>
              <a:t>zz</a:t>
            </a:r>
            <a:r>
              <a:rPr lang="en-US" sz="1400" b="1" dirty="0">
                <a:solidFill>
                  <a:srgbClr val="4A90D9"/>
                </a:solidFill>
                <a:latin typeface="Calibri" pitchFamily="34" charset="0"/>
                <a:ea typeface="Calibri" pitchFamily="34" charset="-122"/>
                <a:cs typeface="Calibri" pitchFamily="34" charset="-120"/>
              </a:rPr>
              <a:t>  ∝ R^4 </a:t>
            </a:r>
            <a:endParaRPr lang="en-US" sz="1400" dirty="0"/>
          </a:p>
        </p:txBody>
      </p:sp>
      <p:sp>
        <p:nvSpPr>
          <p:cNvPr id="25" name="Shape 6">
            <a:extLst>
              <a:ext uri="{FF2B5EF4-FFF2-40B4-BE49-F238E27FC236}">
                <a16:creationId xmlns:a16="http://schemas.microsoft.com/office/drawing/2014/main" id="{18A3650D-F9DF-245B-82DB-E7C2F3D81240}"/>
              </a:ext>
            </a:extLst>
          </p:cNvPr>
          <p:cNvSpPr/>
          <p:nvPr/>
        </p:nvSpPr>
        <p:spPr>
          <a:xfrm>
            <a:off x="2770632" y="2462024"/>
            <a:ext cx="18288" cy="384048"/>
          </a:xfrm>
          <a:prstGeom prst="rect">
            <a:avLst/>
          </a:prstGeom>
          <a:solidFill>
            <a:srgbClr val="E8EDF2"/>
          </a:solidFill>
          <a:ln w="12700">
            <a:solidFill>
              <a:srgbClr val="E8EDF2"/>
            </a:solidFill>
            <a:prstDash val="solid"/>
          </a:ln>
        </p:spPr>
      </p:sp>
      <p:sp>
        <p:nvSpPr>
          <p:cNvPr id="26" name="Text 7">
            <a:extLst>
              <a:ext uri="{FF2B5EF4-FFF2-40B4-BE49-F238E27FC236}">
                <a16:creationId xmlns:a16="http://schemas.microsoft.com/office/drawing/2014/main" id="{58B57317-1522-8E79-D5CF-2201384C3B59}"/>
              </a:ext>
            </a:extLst>
          </p:cNvPr>
          <p:cNvSpPr/>
          <p:nvPr/>
        </p:nvSpPr>
        <p:spPr>
          <a:xfrm>
            <a:off x="2952750" y="2346961"/>
            <a:ext cx="5669280" cy="530352"/>
          </a:xfrm>
          <a:prstGeom prst="rect">
            <a:avLst/>
          </a:prstGeom>
          <a:noFill/>
          <a:ln/>
        </p:spPr>
        <p:txBody>
          <a:bodyPr wrap="square" rtlCol="0" anchor="ctr"/>
          <a:lstStyle/>
          <a:p>
            <a:pPr marL="0" indent="0">
              <a:buNone/>
            </a:pPr>
            <a:r>
              <a:rPr lang="en-US" sz="1050" dirty="0">
                <a:solidFill>
                  <a:srgbClr val="1E1E2E"/>
                </a:solidFill>
                <a:latin typeface="Calibri" pitchFamily="34" charset="0"/>
                <a:ea typeface="Calibri" pitchFamily="34" charset="-122"/>
                <a:cs typeface="Calibri" pitchFamily="34" charset="-120"/>
              </a:rPr>
              <a:t>Moment of Inertia a proportional to the R^4</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81EB4F-95C3-319E-5109-A976E9F60972}"/>
              </a:ext>
            </a:extLst>
          </p:cNvPr>
          <p:cNvPicPr>
            <a:picLocks noChangeAspect="1"/>
          </p:cNvPicPr>
          <p:nvPr/>
        </p:nvPicPr>
        <p:blipFill>
          <a:blip r:embed="rId2"/>
          <a:stretch>
            <a:fillRect/>
          </a:stretch>
        </p:blipFill>
        <p:spPr>
          <a:xfrm>
            <a:off x="482600" y="1334707"/>
            <a:ext cx="8178799" cy="2474084"/>
          </a:xfrm>
          <a:prstGeom prst="rect">
            <a:avLst/>
          </a:prstGeom>
          <a:ln>
            <a:noFill/>
          </a:ln>
        </p:spPr>
      </p:pic>
    </p:spTree>
    <p:extLst>
      <p:ext uri="{BB962C8B-B14F-4D97-AF65-F5344CB8AC3E}">
        <p14:creationId xmlns:p14="http://schemas.microsoft.com/office/powerpoint/2010/main" val="350963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7FD3E3-3AEC-C24B-7990-6BDADB7503B7}"/>
              </a:ext>
            </a:extLst>
          </p:cNvPr>
          <p:cNvSpPr txBox="1"/>
          <p:nvPr/>
        </p:nvSpPr>
        <p:spPr>
          <a:xfrm>
            <a:off x="708660" y="480060"/>
            <a:ext cx="1449436" cy="369332"/>
          </a:xfrm>
          <a:prstGeom prst="rect">
            <a:avLst/>
          </a:prstGeom>
          <a:noFill/>
        </p:spPr>
        <p:txBody>
          <a:bodyPr wrap="none" rtlCol="0">
            <a:spAutoFit/>
          </a:bodyPr>
          <a:lstStyle/>
          <a:p>
            <a:r>
              <a:rPr lang="en-IN" dirty="0"/>
              <a:t>Conclusion :- </a:t>
            </a:r>
          </a:p>
        </p:txBody>
      </p:sp>
      <p:sp>
        <p:nvSpPr>
          <p:cNvPr id="3" name="TextBox 2">
            <a:extLst>
              <a:ext uri="{FF2B5EF4-FFF2-40B4-BE49-F238E27FC236}">
                <a16:creationId xmlns:a16="http://schemas.microsoft.com/office/drawing/2014/main" id="{540EB852-7CBE-941F-1908-33F4A3B7EB37}"/>
              </a:ext>
            </a:extLst>
          </p:cNvPr>
          <p:cNvSpPr txBox="1"/>
          <p:nvPr/>
        </p:nvSpPr>
        <p:spPr>
          <a:xfrm>
            <a:off x="1074420" y="1226820"/>
            <a:ext cx="6819900" cy="2431435"/>
          </a:xfrm>
          <a:prstGeom prst="rect">
            <a:avLst/>
          </a:prstGeom>
          <a:noFill/>
        </p:spPr>
        <p:txBody>
          <a:bodyPr wrap="square" rtlCol="0">
            <a:spAutoFit/>
          </a:bodyPr>
          <a:lstStyle/>
          <a:p>
            <a:r>
              <a:rPr lang="en-IN" dirty="0"/>
              <a:t>After studying the different parameters which affect the wing aerodynamics. We can draw the following conclusions for optimal lift.</a:t>
            </a:r>
          </a:p>
          <a:p>
            <a:endParaRPr lang="en-IN" dirty="0"/>
          </a:p>
          <a:p>
            <a:pPr marL="800100" lvl="1" indent="-342900">
              <a:buFont typeface="+mj-lt"/>
              <a:buAutoNum type="arabicPeriod"/>
            </a:pPr>
            <a:r>
              <a:rPr lang="en-IN" sz="1600" dirty="0"/>
              <a:t>The spar width should be around 0.23mm.</a:t>
            </a:r>
          </a:p>
          <a:p>
            <a:pPr marL="800100" lvl="1" indent="-342900">
              <a:buFont typeface="+mj-lt"/>
              <a:buAutoNum type="arabicPeriod"/>
            </a:pPr>
            <a:r>
              <a:rPr lang="en-IN" sz="1600" dirty="0"/>
              <a:t>The Aspect Ratio should be around 3.5.</a:t>
            </a:r>
          </a:p>
          <a:p>
            <a:pPr marL="800100" lvl="1" indent="-342900">
              <a:buFont typeface="+mj-lt"/>
              <a:buAutoNum type="arabicPeriod"/>
            </a:pPr>
            <a:r>
              <a:rPr lang="en-IN" sz="1600" dirty="0"/>
              <a:t>The First area moment of wing should be around 0.53.</a:t>
            </a:r>
          </a:p>
          <a:p>
            <a:pPr marL="800100" lvl="1" indent="-342900">
              <a:buFont typeface="+mj-lt"/>
              <a:buAutoNum type="arabicPeriod"/>
            </a:pPr>
            <a:r>
              <a:rPr lang="en-IN" sz="1600" dirty="0"/>
              <a:t>The LESR should be around 0.5.</a:t>
            </a:r>
          </a:p>
          <a:p>
            <a:pPr marL="800100" lvl="1" indent="-342900">
              <a:buFont typeface="+mj-lt"/>
              <a:buAutoNum type="arabicPeriod"/>
            </a:pPr>
            <a:r>
              <a:rPr lang="en-IN" sz="1600" dirty="0"/>
              <a:t>The wing size should be between 108 mm^2 to 94.5 mm^2.</a:t>
            </a:r>
          </a:p>
          <a:p>
            <a:pPr marL="342900" indent="-342900">
              <a:buFont typeface="+mj-lt"/>
              <a:buAutoNum type="arabicPeriod"/>
            </a:pPr>
            <a:endParaRPr lang="en-IN" dirty="0"/>
          </a:p>
        </p:txBody>
      </p:sp>
    </p:spTree>
    <p:extLst>
      <p:ext uri="{BB962C8B-B14F-4D97-AF65-F5344CB8AC3E}">
        <p14:creationId xmlns:p14="http://schemas.microsoft.com/office/powerpoint/2010/main" val="923116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DB05CA-2AF3-ABD5-523C-72C140CC0588}"/>
              </a:ext>
            </a:extLst>
          </p:cNvPr>
          <p:cNvSpPr txBox="1"/>
          <p:nvPr/>
        </p:nvSpPr>
        <p:spPr>
          <a:xfrm>
            <a:off x="1645804" y="2087880"/>
            <a:ext cx="5852392" cy="954107"/>
          </a:xfrm>
          <a:prstGeom prst="rect">
            <a:avLst/>
          </a:prstGeom>
          <a:noFill/>
        </p:spPr>
        <p:txBody>
          <a:bodyPr wrap="square" rtlCol="0">
            <a:spAutoFit/>
          </a:bodyPr>
          <a:lstStyle/>
          <a:p>
            <a:pPr algn="ctr"/>
            <a:r>
              <a:rPr lang="en-IN" sz="2800" dirty="0"/>
              <a:t>Computational &amp; Numerical Analysis of Different Wing Profiles</a:t>
            </a:r>
          </a:p>
        </p:txBody>
      </p:sp>
    </p:spTree>
    <p:extLst>
      <p:ext uri="{BB962C8B-B14F-4D97-AF65-F5344CB8AC3E}">
        <p14:creationId xmlns:p14="http://schemas.microsoft.com/office/powerpoint/2010/main" val="1370297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99D866-9ACD-54B8-B7AB-DD00004B6E8C}"/>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652ECF0D-883D-ED5C-E59D-C7C47EDDFF44}"/>
              </a:ext>
            </a:extLst>
          </p:cNvPr>
          <p:cNvSpPr txBox="1"/>
          <p:nvPr/>
        </p:nvSpPr>
        <p:spPr>
          <a:xfrm>
            <a:off x="1509302" y="137160"/>
            <a:ext cx="6125395" cy="461665"/>
          </a:xfrm>
          <a:prstGeom prst="rect">
            <a:avLst/>
          </a:prstGeom>
          <a:noFill/>
        </p:spPr>
        <p:txBody>
          <a:bodyPr wrap="none" rtlCol="0">
            <a:spAutoFit/>
          </a:bodyPr>
          <a:lstStyle/>
          <a:p>
            <a:r>
              <a:rPr lang="en-IN" sz="2400" dirty="0"/>
              <a:t>Rectangular wing profile with leading edge spar</a:t>
            </a:r>
          </a:p>
        </p:txBody>
      </p:sp>
    </p:spTree>
    <p:extLst>
      <p:ext uri="{BB962C8B-B14F-4D97-AF65-F5344CB8AC3E}">
        <p14:creationId xmlns:p14="http://schemas.microsoft.com/office/powerpoint/2010/main" val="64105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D05046-B261-EB6B-9D6B-B463D897B7F0}"/>
              </a:ext>
            </a:extLst>
          </p:cNvPr>
          <p:cNvPicPr>
            <a:picLocks noChangeAspect="1"/>
          </p:cNvPicPr>
          <p:nvPr/>
        </p:nvPicPr>
        <p:blipFill>
          <a:blip r:embed="rId2"/>
          <a:stretch>
            <a:fillRect/>
          </a:stretch>
        </p:blipFill>
        <p:spPr>
          <a:xfrm>
            <a:off x="0" y="525780"/>
            <a:ext cx="9144000" cy="4635344"/>
          </a:xfrm>
          <a:prstGeom prst="rect">
            <a:avLst/>
          </a:prstGeom>
        </p:spPr>
      </p:pic>
      <p:sp>
        <p:nvSpPr>
          <p:cNvPr id="4" name="TextBox 3">
            <a:extLst>
              <a:ext uri="{FF2B5EF4-FFF2-40B4-BE49-F238E27FC236}">
                <a16:creationId xmlns:a16="http://schemas.microsoft.com/office/drawing/2014/main" id="{D91978DC-8948-FD64-2072-60B1B67FD36E}"/>
              </a:ext>
            </a:extLst>
          </p:cNvPr>
          <p:cNvSpPr txBox="1"/>
          <p:nvPr/>
        </p:nvSpPr>
        <p:spPr>
          <a:xfrm>
            <a:off x="4034320" y="45720"/>
            <a:ext cx="1075359" cy="461665"/>
          </a:xfrm>
          <a:prstGeom prst="rect">
            <a:avLst/>
          </a:prstGeom>
          <a:noFill/>
        </p:spPr>
        <p:txBody>
          <a:bodyPr wrap="none" rtlCol="0">
            <a:spAutoFit/>
          </a:bodyPr>
          <a:lstStyle/>
          <a:p>
            <a:r>
              <a:rPr lang="en-IN" sz="2400" dirty="0"/>
              <a:t>Results</a:t>
            </a:r>
          </a:p>
        </p:txBody>
      </p:sp>
    </p:spTree>
    <p:extLst>
      <p:ext uri="{BB962C8B-B14F-4D97-AF65-F5344CB8AC3E}">
        <p14:creationId xmlns:p14="http://schemas.microsoft.com/office/powerpoint/2010/main" val="2180991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0E64B-582A-1140-E8FC-69E68668F4AC}"/>
              </a:ext>
            </a:extLst>
          </p:cNvPr>
          <p:cNvPicPr>
            <a:picLocks noChangeAspect="1"/>
          </p:cNvPicPr>
          <p:nvPr/>
        </p:nvPicPr>
        <p:blipFill>
          <a:blip r:embed="rId2"/>
          <a:stretch>
            <a:fillRect/>
          </a:stretch>
        </p:blipFill>
        <p:spPr>
          <a:xfrm>
            <a:off x="0" y="771525"/>
            <a:ext cx="9144000" cy="4371975"/>
          </a:xfrm>
          <a:prstGeom prst="rect">
            <a:avLst/>
          </a:prstGeom>
        </p:spPr>
      </p:pic>
      <p:sp>
        <p:nvSpPr>
          <p:cNvPr id="5" name="TextBox 4">
            <a:extLst>
              <a:ext uri="{FF2B5EF4-FFF2-40B4-BE49-F238E27FC236}">
                <a16:creationId xmlns:a16="http://schemas.microsoft.com/office/drawing/2014/main" id="{B5CAE693-D125-DBD9-9919-B0A53AF59132}"/>
              </a:ext>
            </a:extLst>
          </p:cNvPr>
          <p:cNvSpPr txBox="1"/>
          <p:nvPr/>
        </p:nvSpPr>
        <p:spPr>
          <a:xfrm>
            <a:off x="1600353" y="141208"/>
            <a:ext cx="5943294" cy="461665"/>
          </a:xfrm>
          <a:prstGeom prst="rect">
            <a:avLst/>
          </a:prstGeom>
          <a:noFill/>
        </p:spPr>
        <p:txBody>
          <a:bodyPr wrap="none" rtlCol="0">
            <a:spAutoFit/>
          </a:bodyPr>
          <a:lstStyle/>
          <a:p>
            <a:r>
              <a:rPr lang="en-IN" sz="2400" dirty="0"/>
              <a:t>Triangular wing profile with leading edge spar </a:t>
            </a:r>
          </a:p>
        </p:txBody>
      </p:sp>
    </p:spTree>
    <p:extLst>
      <p:ext uri="{BB962C8B-B14F-4D97-AF65-F5344CB8AC3E}">
        <p14:creationId xmlns:p14="http://schemas.microsoft.com/office/powerpoint/2010/main" val="1943633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F31498-D2D9-E344-DA60-BE641130F731}"/>
              </a:ext>
            </a:extLst>
          </p:cNvPr>
          <p:cNvPicPr>
            <a:picLocks noChangeAspect="1"/>
          </p:cNvPicPr>
          <p:nvPr/>
        </p:nvPicPr>
        <p:blipFill>
          <a:blip r:embed="rId2"/>
          <a:stretch>
            <a:fillRect/>
          </a:stretch>
        </p:blipFill>
        <p:spPr>
          <a:xfrm>
            <a:off x="0" y="758732"/>
            <a:ext cx="9144000" cy="4395876"/>
          </a:xfrm>
          <a:prstGeom prst="rect">
            <a:avLst/>
          </a:prstGeom>
        </p:spPr>
      </p:pic>
      <p:sp>
        <p:nvSpPr>
          <p:cNvPr id="4" name="TextBox 3">
            <a:extLst>
              <a:ext uri="{FF2B5EF4-FFF2-40B4-BE49-F238E27FC236}">
                <a16:creationId xmlns:a16="http://schemas.microsoft.com/office/drawing/2014/main" id="{58F974C8-79CE-D626-0F8B-33658EF1AC66}"/>
              </a:ext>
            </a:extLst>
          </p:cNvPr>
          <p:cNvSpPr txBox="1"/>
          <p:nvPr/>
        </p:nvSpPr>
        <p:spPr>
          <a:xfrm>
            <a:off x="4034320" y="175260"/>
            <a:ext cx="1075359" cy="461665"/>
          </a:xfrm>
          <a:prstGeom prst="rect">
            <a:avLst/>
          </a:prstGeom>
          <a:noFill/>
        </p:spPr>
        <p:txBody>
          <a:bodyPr wrap="none" rtlCol="0">
            <a:spAutoFit/>
          </a:bodyPr>
          <a:lstStyle/>
          <a:p>
            <a:r>
              <a:rPr lang="en-IN" sz="2400" dirty="0"/>
              <a:t>Results</a:t>
            </a:r>
          </a:p>
        </p:txBody>
      </p:sp>
    </p:spTree>
    <p:extLst>
      <p:ext uri="{BB962C8B-B14F-4D97-AF65-F5344CB8AC3E}">
        <p14:creationId xmlns:p14="http://schemas.microsoft.com/office/powerpoint/2010/main" val="869921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11318E-6E73-F8EC-4928-85446E9F5708}"/>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EFC64EA3-CB67-DDD8-AF8E-94AB57F3C731}"/>
              </a:ext>
            </a:extLst>
          </p:cNvPr>
          <p:cNvSpPr txBox="1"/>
          <p:nvPr/>
        </p:nvSpPr>
        <p:spPr>
          <a:xfrm>
            <a:off x="1816085" y="137160"/>
            <a:ext cx="5511830" cy="461665"/>
          </a:xfrm>
          <a:prstGeom prst="rect">
            <a:avLst/>
          </a:prstGeom>
          <a:noFill/>
        </p:spPr>
        <p:txBody>
          <a:bodyPr wrap="none" rtlCol="0">
            <a:spAutoFit/>
          </a:bodyPr>
          <a:lstStyle/>
          <a:p>
            <a:r>
              <a:rPr lang="en-IN" sz="2400" dirty="0"/>
              <a:t>Curved wing profile with leading edge spar</a:t>
            </a:r>
          </a:p>
        </p:txBody>
      </p:sp>
    </p:spTree>
    <p:extLst>
      <p:ext uri="{BB962C8B-B14F-4D97-AF65-F5344CB8AC3E}">
        <p14:creationId xmlns:p14="http://schemas.microsoft.com/office/powerpoint/2010/main" val="1075780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ECC590-050D-3AED-3111-AEE6538D940E}"/>
              </a:ext>
            </a:extLst>
          </p:cNvPr>
          <p:cNvPicPr>
            <a:picLocks noChangeAspect="1"/>
          </p:cNvPicPr>
          <p:nvPr/>
        </p:nvPicPr>
        <p:blipFill>
          <a:blip r:embed="rId2"/>
          <a:stretch>
            <a:fillRect/>
          </a:stretch>
        </p:blipFill>
        <p:spPr>
          <a:xfrm>
            <a:off x="0" y="711104"/>
            <a:ext cx="9144000" cy="4432396"/>
          </a:xfrm>
          <a:prstGeom prst="rect">
            <a:avLst/>
          </a:prstGeom>
        </p:spPr>
      </p:pic>
      <p:sp>
        <p:nvSpPr>
          <p:cNvPr id="4" name="TextBox 3">
            <a:extLst>
              <a:ext uri="{FF2B5EF4-FFF2-40B4-BE49-F238E27FC236}">
                <a16:creationId xmlns:a16="http://schemas.microsoft.com/office/drawing/2014/main" id="{A2711B1D-FACF-62A4-EB7E-CC075C170C45}"/>
              </a:ext>
            </a:extLst>
          </p:cNvPr>
          <p:cNvSpPr txBox="1"/>
          <p:nvPr/>
        </p:nvSpPr>
        <p:spPr>
          <a:xfrm>
            <a:off x="4034320" y="121920"/>
            <a:ext cx="1075359" cy="461665"/>
          </a:xfrm>
          <a:prstGeom prst="rect">
            <a:avLst/>
          </a:prstGeom>
          <a:noFill/>
        </p:spPr>
        <p:txBody>
          <a:bodyPr wrap="none" rtlCol="0">
            <a:spAutoFit/>
          </a:bodyPr>
          <a:lstStyle/>
          <a:p>
            <a:r>
              <a:rPr lang="en-IN" sz="2400" dirty="0"/>
              <a:t>Results</a:t>
            </a:r>
          </a:p>
        </p:txBody>
      </p:sp>
    </p:spTree>
    <p:extLst>
      <p:ext uri="{BB962C8B-B14F-4D97-AF65-F5344CB8AC3E}">
        <p14:creationId xmlns:p14="http://schemas.microsoft.com/office/powerpoint/2010/main" val="1360041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92A44F-824E-AABC-D9E0-941CE73EC612}"/>
              </a:ext>
            </a:extLst>
          </p:cNvPr>
          <p:cNvSpPr txBox="1"/>
          <p:nvPr/>
        </p:nvSpPr>
        <p:spPr>
          <a:xfrm>
            <a:off x="2338857" y="58281"/>
            <a:ext cx="4466287" cy="461665"/>
          </a:xfrm>
          <a:prstGeom prst="rect">
            <a:avLst/>
          </a:prstGeom>
          <a:noFill/>
        </p:spPr>
        <p:txBody>
          <a:bodyPr wrap="none" rtlCol="0">
            <a:spAutoFit/>
          </a:bodyPr>
          <a:lstStyle/>
          <a:p>
            <a:pPr algn="ctr"/>
            <a:r>
              <a:rPr lang="en-IN" sz="2400" dirty="0"/>
              <a:t>Vertically Straight carbon stiffener</a:t>
            </a:r>
          </a:p>
        </p:txBody>
      </p:sp>
      <p:pic>
        <p:nvPicPr>
          <p:cNvPr id="6" name="Picture 5">
            <a:extLst>
              <a:ext uri="{FF2B5EF4-FFF2-40B4-BE49-F238E27FC236}">
                <a16:creationId xmlns:a16="http://schemas.microsoft.com/office/drawing/2014/main" id="{8CDDE8A8-3FAF-1F22-AD9D-CC38D5825C1D}"/>
              </a:ext>
            </a:extLst>
          </p:cNvPr>
          <p:cNvPicPr>
            <a:picLocks noChangeAspect="1"/>
          </p:cNvPicPr>
          <p:nvPr/>
        </p:nvPicPr>
        <p:blipFill>
          <a:blip r:embed="rId2"/>
          <a:stretch>
            <a:fillRect/>
          </a:stretch>
        </p:blipFill>
        <p:spPr>
          <a:xfrm>
            <a:off x="0" y="519946"/>
            <a:ext cx="9144000" cy="4371975"/>
          </a:xfrm>
          <a:prstGeom prst="rect">
            <a:avLst/>
          </a:prstGeom>
        </p:spPr>
      </p:pic>
    </p:spTree>
    <p:extLst>
      <p:ext uri="{BB962C8B-B14F-4D97-AF65-F5344CB8AC3E}">
        <p14:creationId xmlns:p14="http://schemas.microsoft.com/office/powerpoint/2010/main" val="2318078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852A3F-843E-98FC-AC9D-EAD14CF5AC9C}"/>
              </a:ext>
            </a:extLst>
          </p:cNvPr>
          <p:cNvPicPr>
            <a:picLocks noChangeAspect="1"/>
          </p:cNvPicPr>
          <p:nvPr/>
        </p:nvPicPr>
        <p:blipFill>
          <a:blip r:embed="rId2"/>
          <a:stretch>
            <a:fillRect/>
          </a:stretch>
        </p:blipFill>
        <p:spPr>
          <a:xfrm>
            <a:off x="1314451" y="190849"/>
            <a:ext cx="1553521" cy="2300891"/>
          </a:xfrm>
          <a:prstGeom prst="rect">
            <a:avLst/>
          </a:prstGeom>
        </p:spPr>
      </p:pic>
      <p:pic>
        <p:nvPicPr>
          <p:cNvPr id="9" name="Picture 8">
            <a:extLst>
              <a:ext uri="{FF2B5EF4-FFF2-40B4-BE49-F238E27FC236}">
                <a16:creationId xmlns:a16="http://schemas.microsoft.com/office/drawing/2014/main" id="{0466582E-0A4A-5EB9-E508-C7C89698ADCB}"/>
              </a:ext>
            </a:extLst>
          </p:cNvPr>
          <p:cNvPicPr>
            <a:picLocks noChangeAspect="1"/>
          </p:cNvPicPr>
          <p:nvPr/>
        </p:nvPicPr>
        <p:blipFill>
          <a:blip r:embed="rId3"/>
          <a:stretch>
            <a:fillRect/>
          </a:stretch>
        </p:blipFill>
        <p:spPr>
          <a:xfrm>
            <a:off x="5361628" y="190849"/>
            <a:ext cx="2182623" cy="2258079"/>
          </a:xfrm>
          <a:prstGeom prst="rect">
            <a:avLst/>
          </a:prstGeom>
        </p:spPr>
      </p:pic>
      <p:sp>
        <p:nvSpPr>
          <p:cNvPr id="10" name="TextBox 9">
            <a:extLst>
              <a:ext uri="{FF2B5EF4-FFF2-40B4-BE49-F238E27FC236}">
                <a16:creationId xmlns:a16="http://schemas.microsoft.com/office/drawing/2014/main" id="{56345A8E-5965-CEEC-CDD6-7D60545CB000}"/>
              </a:ext>
            </a:extLst>
          </p:cNvPr>
          <p:cNvSpPr txBox="1"/>
          <p:nvPr/>
        </p:nvSpPr>
        <p:spPr>
          <a:xfrm>
            <a:off x="1051312" y="2491740"/>
            <a:ext cx="2142638" cy="307777"/>
          </a:xfrm>
          <a:prstGeom prst="rect">
            <a:avLst/>
          </a:prstGeom>
          <a:noFill/>
        </p:spPr>
        <p:txBody>
          <a:bodyPr wrap="none" rtlCol="0">
            <a:spAutoFit/>
          </a:bodyPr>
          <a:lstStyle/>
          <a:p>
            <a:r>
              <a:rPr lang="en-IN" sz="1400" dirty="0"/>
              <a:t>Rectangular strip with spar</a:t>
            </a:r>
          </a:p>
        </p:txBody>
      </p:sp>
      <p:sp>
        <p:nvSpPr>
          <p:cNvPr id="11" name="TextBox 10">
            <a:extLst>
              <a:ext uri="{FF2B5EF4-FFF2-40B4-BE49-F238E27FC236}">
                <a16:creationId xmlns:a16="http://schemas.microsoft.com/office/drawing/2014/main" id="{5D8F4B01-0D9E-9A27-5BF8-6485652157B3}"/>
              </a:ext>
            </a:extLst>
          </p:cNvPr>
          <p:cNvSpPr txBox="1"/>
          <p:nvPr/>
        </p:nvSpPr>
        <p:spPr>
          <a:xfrm>
            <a:off x="5273997" y="2515844"/>
            <a:ext cx="2357883" cy="523220"/>
          </a:xfrm>
          <a:prstGeom prst="rect">
            <a:avLst/>
          </a:prstGeom>
          <a:noFill/>
        </p:spPr>
        <p:txBody>
          <a:bodyPr wrap="square" rtlCol="0">
            <a:spAutoFit/>
          </a:bodyPr>
          <a:lstStyle/>
          <a:p>
            <a:pPr algn="ctr"/>
            <a:r>
              <a:rPr lang="en-IN" sz="1400" dirty="0"/>
              <a:t>Rectangular strip with vertically straight stiffener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E42C9A6-685D-023C-CD3C-6682D81E66F9}"/>
                  </a:ext>
                </a:extLst>
              </p:cNvPr>
              <p:cNvSpPr txBox="1"/>
              <p:nvPr/>
            </p:nvSpPr>
            <p:spPr>
              <a:xfrm>
                <a:off x="569737" y="3074434"/>
                <a:ext cx="3037242" cy="582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smtClean="0">
                              <a:latin typeface="Cambria Math" panose="02040503050406030204" pitchFamily="18" charset="0"/>
                            </a:rPr>
                            <m:t>𝑋</m:t>
                          </m:r>
                        </m:e>
                        <m:sub>
                          <m:r>
                            <a:rPr lang="en-IN" i="1" smtClean="0">
                              <a:latin typeface="Cambria Math" panose="02040503050406030204" pitchFamily="18" charset="0"/>
                            </a:rPr>
                            <m:t>𝐶𝐺</m:t>
                          </m:r>
                        </m:sub>
                      </m:sSub>
                      <m:r>
                        <a:rPr lang="en-IN" i="0" smtClean="0">
                          <a:latin typeface="Cambria Math" panose="02040503050406030204" pitchFamily="18" charset="0"/>
                        </a:rPr>
                        <m:t>=</m:t>
                      </m:r>
                      <m:f>
                        <m:fPr>
                          <m:ctrlPr>
                            <a:rPr lang="en-IN" i="1" smtClean="0">
                              <a:latin typeface="Cambria Math" panose="02040503050406030204" pitchFamily="18" charset="0"/>
                            </a:rPr>
                          </m:ctrlPr>
                        </m:fPr>
                        <m:num>
                          <m:nary>
                            <m:naryPr>
                              <m:chr m:val="∑"/>
                              <m:grow m:val="on"/>
                              <m:subHide m:val="on"/>
                              <m:supHide m:val="on"/>
                              <m:ctrlPr>
                                <a:rPr lang="en-IN" i="1" smtClean="0">
                                  <a:latin typeface="Cambria Math" panose="02040503050406030204" pitchFamily="18" charset="0"/>
                                </a:rPr>
                              </m:ctrlPr>
                            </m:naryPr>
                            <m:sub/>
                            <m:sup/>
                            <m:e>
                              <m:sSub>
                                <m:sSubPr>
                                  <m:ctrlPr>
                                    <a:rPr lang="en-IN" i="1" smtClean="0">
                                      <a:latin typeface="Cambria Math" panose="02040503050406030204" pitchFamily="18" charset="0"/>
                                    </a:rPr>
                                  </m:ctrlPr>
                                </m:sSubPr>
                                <m:e>
                                  <m:r>
                                    <a:rPr lang="en-IN" i="1" smtClean="0">
                                      <a:latin typeface="Cambria Math" panose="02040503050406030204" pitchFamily="18" charset="0"/>
                                    </a:rPr>
                                    <m:t>𝑚</m:t>
                                  </m:r>
                                </m:e>
                                <m:sub>
                                  <m:r>
                                    <a:rPr lang="en-IN" i="1" smtClean="0">
                                      <a:latin typeface="Cambria Math" panose="02040503050406030204" pitchFamily="18" charset="0"/>
                                    </a:rPr>
                                    <m:t>𝑖</m:t>
                                  </m:r>
                                </m:sub>
                              </m:sSub>
                              <m:sSub>
                                <m:sSubPr>
                                  <m:ctrlPr>
                                    <a:rPr lang="en-IN" i="1" smtClean="0">
                                      <a:latin typeface="Cambria Math" panose="02040503050406030204" pitchFamily="18" charset="0"/>
                                    </a:rPr>
                                  </m:ctrlPr>
                                </m:sSubPr>
                                <m:e>
                                  <m:r>
                                    <a:rPr lang="en-IN" i="1" smtClean="0">
                                      <a:latin typeface="Cambria Math" panose="02040503050406030204" pitchFamily="18" charset="0"/>
                                    </a:rPr>
                                    <m:t>𝑥</m:t>
                                  </m:r>
                                </m:e>
                                <m:sub>
                                  <m:r>
                                    <a:rPr lang="en-IN" i="1" smtClean="0">
                                      <a:latin typeface="Cambria Math" panose="02040503050406030204" pitchFamily="18" charset="0"/>
                                    </a:rPr>
                                    <m:t>𝑖</m:t>
                                  </m:r>
                                </m:sub>
                              </m:sSub>
                            </m:e>
                          </m:nary>
                        </m:num>
                        <m:den>
                          <m:r>
                            <a:rPr lang="en-IN" i="1" smtClean="0">
                              <a:latin typeface="Cambria Math" panose="02040503050406030204" pitchFamily="18" charset="0"/>
                            </a:rPr>
                            <m:t>𝛴</m:t>
                          </m:r>
                          <m:sSub>
                            <m:sSubPr>
                              <m:ctrlPr>
                                <a:rPr lang="en-IN" i="1" smtClean="0">
                                  <a:latin typeface="Cambria Math" panose="02040503050406030204" pitchFamily="18" charset="0"/>
                                </a:rPr>
                              </m:ctrlPr>
                            </m:sSubPr>
                            <m:e>
                              <m:r>
                                <a:rPr lang="en-IN" i="1" smtClean="0">
                                  <a:latin typeface="Cambria Math" panose="02040503050406030204" pitchFamily="18" charset="0"/>
                                </a:rPr>
                                <m:t>𝑚</m:t>
                              </m:r>
                            </m:e>
                            <m:sub>
                              <m:r>
                                <a:rPr lang="en-IN" i="1" smtClean="0">
                                  <a:latin typeface="Cambria Math" panose="02040503050406030204" pitchFamily="18" charset="0"/>
                                </a:rPr>
                                <m:t>𝑖</m:t>
                              </m:r>
                            </m:sub>
                          </m:sSub>
                        </m:den>
                      </m:f>
                      <m:r>
                        <a:rPr lang="en-IN" b="0" i="1" smtClean="0">
                          <a:latin typeface="Cambria Math" panose="02040503050406030204" pitchFamily="18" charset="0"/>
                        </a:rPr>
                        <m:t>      </m:t>
                      </m:r>
                      <m:sSub>
                        <m:sSubPr>
                          <m:ctrlPr>
                            <a:rPr lang="en-IN" i="1" smtClean="0">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𝐶𝐺</m:t>
                          </m:r>
                        </m:sub>
                      </m:sSub>
                      <m:r>
                        <a:rPr lang="en-IN" i="0">
                          <a:latin typeface="Cambria Math" panose="02040503050406030204" pitchFamily="18" charset="0"/>
                        </a:rPr>
                        <m:t>=</m:t>
                      </m:r>
                      <m:f>
                        <m:fPr>
                          <m:ctrlPr>
                            <a:rPr lang="en-IN" i="1">
                              <a:latin typeface="Cambria Math" panose="02040503050406030204" pitchFamily="18" charset="0"/>
                            </a:rPr>
                          </m:ctrlPr>
                        </m:fPr>
                        <m:num>
                          <m:nary>
                            <m:naryPr>
                              <m:chr m:val="∑"/>
                              <m:grow m:val="on"/>
                              <m:subHide m:val="on"/>
                              <m:supHide m:val="on"/>
                              <m:ctrlPr>
                                <a:rPr lang="en-IN" i="1">
                                  <a:latin typeface="Cambria Math" panose="02040503050406030204" pitchFamily="18" charset="0"/>
                                </a:rPr>
                              </m:ctrlPr>
                            </m:naryPr>
                            <m:sub/>
                            <m:sup/>
                            <m:e>
                              <m:sSub>
                                <m:sSubPr>
                                  <m:ctrlPr>
                                    <a:rPr lang="en-IN" i="1">
                                      <a:latin typeface="Cambria Math" panose="02040503050406030204" pitchFamily="18" charset="0"/>
                                    </a:rPr>
                                  </m:ctrlPr>
                                </m:sSubPr>
                                <m:e>
                                  <m:r>
                                    <a:rPr lang="en-IN" i="1">
                                      <a:latin typeface="Cambria Math" panose="02040503050406030204" pitchFamily="18" charset="0"/>
                                    </a:rPr>
                                    <m:t>𝑚</m:t>
                                  </m:r>
                                </m:e>
                                <m:sub>
                                  <m:r>
                                    <a:rPr lang="en-IN" i="1">
                                      <a:latin typeface="Cambria Math" panose="02040503050406030204" pitchFamily="18" charset="0"/>
                                    </a:rPr>
                                    <m:t>𝑖</m:t>
                                  </m:r>
                                </m:sub>
                              </m:sSub>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e>
                          </m:nary>
                        </m:num>
                        <m:den>
                          <m:r>
                            <a:rPr lang="en-IN" i="1">
                              <a:latin typeface="Cambria Math" panose="02040503050406030204" pitchFamily="18" charset="0"/>
                            </a:rPr>
                            <m:t>𝛴</m:t>
                          </m:r>
                          <m:sSub>
                            <m:sSubPr>
                              <m:ctrlPr>
                                <a:rPr lang="en-IN" i="1">
                                  <a:latin typeface="Cambria Math" panose="02040503050406030204" pitchFamily="18" charset="0"/>
                                </a:rPr>
                              </m:ctrlPr>
                            </m:sSubPr>
                            <m:e>
                              <m:r>
                                <a:rPr lang="en-IN" i="1">
                                  <a:latin typeface="Cambria Math" panose="02040503050406030204" pitchFamily="18" charset="0"/>
                                </a:rPr>
                                <m:t>𝑚</m:t>
                              </m:r>
                            </m:e>
                            <m:sub>
                              <m:r>
                                <a:rPr lang="en-IN" i="1">
                                  <a:latin typeface="Cambria Math" panose="02040503050406030204" pitchFamily="18" charset="0"/>
                                </a:rPr>
                                <m:t>𝑖</m:t>
                              </m:r>
                            </m:sub>
                          </m:sSub>
                        </m:den>
                      </m:f>
                    </m:oMath>
                  </m:oMathPara>
                </a14:m>
                <a:endParaRPr lang="en-IN" dirty="0"/>
              </a:p>
            </p:txBody>
          </p:sp>
        </mc:Choice>
        <mc:Fallback xmlns="">
          <p:sp>
            <p:nvSpPr>
              <p:cNvPr id="12" name="TextBox 11">
                <a:extLst>
                  <a:ext uri="{FF2B5EF4-FFF2-40B4-BE49-F238E27FC236}">
                    <a16:creationId xmlns:a16="http://schemas.microsoft.com/office/drawing/2014/main" id="{9E42C9A6-685D-023C-CD3C-6682D81E66F9}"/>
                  </a:ext>
                </a:extLst>
              </p:cNvPr>
              <p:cNvSpPr txBox="1">
                <a:spLocks noRot="1" noChangeAspect="1" noMove="1" noResize="1" noEditPoints="1" noAdjustHandles="1" noChangeArrowheads="1" noChangeShapeType="1" noTextEdit="1"/>
              </p:cNvSpPr>
              <p:nvPr/>
            </p:nvSpPr>
            <p:spPr>
              <a:xfrm>
                <a:off x="569737" y="3074434"/>
                <a:ext cx="3037242" cy="582339"/>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99275B1-3B47-F2F3-2D6D-18FE8A98ED14}"/>
                  </a:ext>
                </a:extLst>
              </p:cNvPr>
              <p:cNvSpPr txBox="1"/>
              <p:nvPr/>
            </p:nvSpPr>
            <p:spPr>
              <a:xfrm>
                <a:off x="5618703" y="3187794"/>
                <a:ext cx="1668470" cy="5843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𝑁𝐴</m:t>
                          </m:r>
                        </m:sub>
                      </m:sSub>
                      <m:r>
                        <a:rPr lang="en-IN" i="0">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𝛴</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𝐸</m:t>
                                  </m:r>
                                </m:e>
                                <m:sub>
                                  <m:r>
                                    <a:rPr lang="en-IN" i="1">
                                      <a:latin typeface="Cambria Math" panose="02040503050406030204" pitchFamily="18" charset="0"/>
                                    </a:rPr>
                                    <m:t>𝑖</m:t>
                                  </m:r>
                                </m:sub>
                              </m:sSub>
                              <m:sSub>
                                <m:sSubPr>
                                  <m:ctrlPr>
                                    <a:rPr lang="en-IN" i="1">
                                      <a:latin typeface="Cambria Math" panose="02040503050406030204" pitchFamily="18" charset="0"/>
                                    </a:rPr>
                                  </m:ctrlPr>
                                </m:sSubPr>
                                <m:e>
                                  <m:r>
                                    <a:rPr lang="en-IN" i="1">
                                      <a:latin typeface="Cambria Math" panose="02040503050406030204" pitchFamily="18" charset="0"/>
                                    </a:rPr>
                                    <m:t>𝐴</m:t>
                                  </m:r>
                                </m:e>
                                <m:sub>
                                  <m:r>
                                    <a:rPr lang="en-IN" i="1">
                                      <a:latin typeface="Cambria Math" panose="02040503050406030204" pitchFamily="18" charset="0"/>
                                    </a:rPr>
                                    <m:t>𝑖</m:t>
                                  </m:r>
                                </m:sub>
                              </m:sSub>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e>
                          </m:d>
                        </m:num>
                        <m:den>
                          <m:r>
                            <a:rPr lang="en-IN" i="1">
                              <a:latin typeface="Cambria Math" panose="02040503050406030204" pitchFamily="18" charset="0"/>
                            </a:rPr>
                            <m:t>𝛴</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𝐸</m:t>
                                  </m:r>
                                </m:e>
                                <m:sub>
                                  <m:r>
                                    <a:rPr lang="en-IN" i="1">
                                      <a:latin typeface="Cambria Math" panose="02040503050406030204" pitchFamily="18" charset="0"/>
                                    </a:rPr>
                                    <m:t>𝑖</m:t>
                                  </m:r>
                                </m:sub>
                              </m:sSub>
                              <m:sSub>
                                <m:sSubPr>
                                  <m:ctrlPr>
                                    <a:rPr lang="en-IN" i="1">
                                      <a:latin typeface="Cambria Math" panose="02040503050406030204" pitchFamily="18" charset="0"/>
                                    </a:rPr>
                                  </m:ctrlPr>
                                </m:sSubPr>
                                <m:e>
                                  <m:r>
                                    <a:rPr lang="en-IN" i="1">
                                      <a:latin typeface="Cambria Math" panose="02040503050406030204" pitchFamily="18" charset="0"/>
                                    </a:rPr>
                                    <m:t>𝐴</m:t>
                                  </m:r>
                                </m:e>
                                <m:sub>
                                  <m:r>
                                    <a:rPr lang="en-IN" i="1">
                                      <a:latin typeface="Cambria Math" panose="02040503050406030204" pitchFamily="18" charset="0"/>
                                    </a:rPr>
                                    <m:t>𝑖</m:t>
                                  </m:r>
                                </m:sub>
                              </m:sSub>
                            </m:e>
                          </m:d>
                        </m:den>
                      </m:f>
                    </m:oMath>
                  </m:oMathPara>
                </a14:m>
                <a:endParaRPr lang="en-IN" dirty="0"/>
              </a:p>
            </p:txBody>
          </p:sp>
        </mc:Choice>
        <mc:Fallback xmlns="">
          <p:sp>
            <p:nvSpPr>
              <p:cNvPr id="13" name="TextBox 12">
                <a:extLst>
                  <a:ext uri="{FF2B5EF4-FFF2-40B4-BE49-F238E27FC236}">
                    <a16:creationId xmlns:a16="http://schemas.microsoft.com/office/drawing/2014/main" id="{599275B1-3B47-F2F3-2D6D-18FE8A98ED14}"/>
                  </a:ext>
                </a:extLst>
              </p:cNvPr>
              <p:cNvSpPr txBox="1">
                <a:spLocks noRot="1" noChangeAspect="1" noMove="1" noResize="1" noEditPoints="1" noAdjustHandles="1" noChangeArrowheads="1" noChangeShapeType="1" noTextEdit="1"/>
              </p:cNvSpPr>
              <p:nvPr/>
            </p:nvSpPr>
            <p:spPr>
              <a:xfrm>
                <a:off x="5618703" y="3187794"/>
                <a:ext cx="1668470" cy="58439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4653B31-BB23-EA3E-5E2B-141E3A3017DB}"/>
                  </a:ext>
                </a:extLst>
              </p:cNvPr>
              <p:cNvSpPr txBox="1"/>
              <p:nvPr/>
            </p:nvSpPr>
            <p:spPr>
              <a:xfrm>
                <a:off x="569737" y="3747024"/>
                <a:ext cx="107010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𝜌</m:t>
                          </m:r>
                        </m:e>
                        <m:sub>
                          <m:r>
                            <a:rPr lang="en-IN" i="1">
                              <a:latin typeface="Cambria Math" panose="02040503050406030204" pitchFamily="18" charset="0"/>
                            </a:rPr>
                            <m:t>𝑆</m:t>
                          </m:r>
                        </m:sub>
                      </m:sSub>
                      <m:r>
                        <a:rPr lang="en-IN" i="0">
                          <a:latin typeface="Cambria Math" panose="02040503050406030204" pitchFamily="18" charset="0"/>
                        </a:rPr>
                        <m:t>=1.6</m:t>
                      </m:r>
                    </m:oMath>
                  </m:oMathPara>
                </a14:m>
                <a:endParaRPr lang="en-IN" dirty="0"/>
              </a:p>
            </p:txBody>
          </p:sp>
        </mc:Choice>
        <mc:Fallback xmlns="">
          <p:sp>
            <p:nvSpPr>
              <p:cNvPr id="14" name="TextBox 13">
                <a:extLst>
                  <a:ext uri="{FF2B5EF4-FFF2-40B4-BE49-F238E27FC236}">
                    <a16:creationId xmlns:a16="http://schemas.microsoft.com/office/drawing/2014/main" id="{14653B31-BB23-EA3E-5E2B-141E3A3017DB}"/>
                  </a:ext>
                </a:extLst>
              </p:cNvPr>
              <p:cNvSpPr txBox="1">
                <a:spLocks noRot="1" noChangeAspect="1" noMove="1" noResize="1" noEditPoints="1" noAdjustHandles="1" noChangeArrowheads="1" noChangeShapeType="1" noTextEdit="1"/>
              </p:cNvSpPr>
              <p:nvPr/>
            </p:nvSpPr>
            <p:spPr>
              <a:xfrm>
                <a:off x="569737" y="3747024"/>
                <a:ext cx="1070101" cy="369332"/>
              </a:xfrm>
              <a:prstGeom prst="rect">
                <a:avLst/>
              </a:prstGeom>
              <a:blipFill>
                <a:blip r:embed="rId6"/>
                <a:stretch>
                  <a:fillRect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B17148-128C-F3FB-4B3C-3EB703A2185C}"/>
                  </a:ext>
                </a:extLst>
              </p:cNvPr>
              <p:cNvSpPr txBox="1"/>
              <p:nvPr/>
            </p:nvSpPr>
            <p:spPr>
              <a:xfrm>
                <a:off x="2263140" y="3793190"/>
                <a:ext cx="9491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𝜌</m:t>
                          </m:r>
                        </m:e>
                        <m:sub>
                          <m:r>
                            <a:rPr lang="en-IN" i="1">
                              <a:latin typeface="Cambria Math" panose="02040503050406030204" pitchFamily="18" charset="0"/>
                            </a:rPr>
                            <m:t>𝑚</m:t>
                          </m:r>
                        </m:sub>
                      </m:sSub>
                      <m:r>
                        <a:rPr lang="en-IN" i="0">
                          <a:latin typeface="Cambria Math" panose="02040503050406030204" pitchFamily="18" charset="0"/>
                        </a:rPr>
                        <m:t>=1.3</m:t>
                      </m:r>
                    </m:oMath>
                  </m:oMathPara>
                </a14:m>
                <a:endParaRPr lang="en-IN" dirty="0"/>
              </a:p>
            </p:txBody>
          </p:sp>
        </mc:Choice>
        <mc:Fallback xmlns="">
          <p:sp>
            <p:nvSpPr>
              <p:cNvPr id="4" name="TextBox 3">
                <a:extLst>
                  <a:ext uri="{FF2B5EF4-FFF2-40B4-BE49-F238E27FC236}">
                    <a16:creationId xmlns:a16="http://schemas.microsoft.com/office/drawing/2014/main" id="{26B17148-128C-F3FB-4B3C-3EB703A2185C}"/>
                  </a:ext>
                </a:extLst>
              </p:cNvPr>
              <p:cNvSpPr txBox="1">
                <a:spLocks noRot="1" noChangeAspect="1" noMove="1" noResize="1" noEditPoints="1" noAdjustHandles="1" noChangeArrowheads="1" noChangeShapeType="1" noTextEdit="1"/>
              </p:cNvSpPr>
              <p:nvPr/>
            </p:nvSpPr>
            <p:spPr>
              <a:xfrm>
                <a:off x="2263140" y="3793190"/>
                <a:ext cx="949171" cy="276999"/>
              </a:xfrm>
              <a:prstGeom prst="rect">
                <a:avLst/>
              </a:prstGeom>
              <a:blipFill>
                <a:blip r:embed="rId7"/>
                <a:stretch>
                  <a:fillRect l="-5769" r="-5769" b="-239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E08EC78-10AE-3E4C-08EC-0D4F6A63EC8A}"/>
                  </a:ext>
                </a:extLst>
              </p:cNvPr>
              <p:cNvSpPr txBox="1"/>
              <p:nvPr/>
            </p:nvSpPr>
            <p:spPr>
              <a:xfrm>
                <a:off x="485803" y="4316730"/>
                <a:ext cx="123796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𝑡</m:t>
                          </m:r>
                        </m:e>
                        <m:sub>
                          <m:r>
                            <a:rPr lang="en-IN" i="1">
                              <a:latin typeface="Cambria Math" panose="02040503050406030204" pitchFamily="18" charset="0"/>
                            </a:rPr>
                            <m:t>𝑆</m:t>
                          </m:r>
                        </m:sub>
                      </m:sSub>
                      <m:r>
                        <a:rPr lang="en-IN" i="0">
                          <a:latin typeface="Cambria Math" panose="02040503050406030204" pitchFamily="18" charset="0"/>
                        </a:rPr>
                        <m:t>=0.5</m:t>
                      </m:r>
                      <m:r>
                        <a:rPr lang="en-IN" i="1">
                          <a:latin typeface="Cambria Math" panose="02040503050406030204" pitchFamily="18" charset="0"/>
                        </a:rPr>
                        <m:t>𝑚𝑚</m:t>
                      </m:r>
                    </m:oMath>
                  </m:oMathPara>
                </a14:m>
                <a:endParaRPr lang="en-IN" dirty="0"/>
              </a:p>
            </p:txBody>
          </p:sp>
        </mc:Choice>
        <mc:Fallback xmlns="">
          <p:sp>
            <p:nvSpPr>
              <p:cNvPr id="5" name="TextBox 4">
                <a:extLst>
                  <a:ext uri="{FF2B5EF4-FFF2-40B4-BE49-F238E27FC236}">
                    <a16:creationId xmlns:a16="http://schemas.microsoft.com/office/drawing/2014/main" id="{8E08EC78-10AE-3E4C-08EC-0D4F6A63EC8A}"/>
                  </a:ext>
                </a:extLst>
              </p:cNvPr>
              <p:cNvSpPr txBox="1">
                <a:spLocks noRot="1" noChangeAspect="1" noMove="1" noResize="1" noEditPoints="1" noAdjustHandles="1" noChangeArrowheads="1" noChangeShapeType="1" noTextEdit="1"/>
              </p:cNvSpPr>
              <p:nvPr/>
            </p:nvSpPr>
            <p:spPr>
              <a:xfrm>
                <a:off x="485803" y="4316730"/>
                <a:ext cx="1237968" cy="276999"/>
              </a:xfrm>
              <a:prstGeom prst="rect">
                <a:avLst/>
              </a:prstGeom>
              <a:blipFill>
                <a:blip r:embed="rId8"/>
                <a:stretch>
                  <a:fillRect l="-3941" r="-2463" b="-130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70727A3-48C7-B0F3-A72D-E2E7D31C5F2E}"/>
                  </a:ext>
                </a:extLst>
              </p:cNvPr>
              <p:cNvSpPr txBox="1"/>
              <p:nvPr/>
            </p:nvSpPr>
            <p:spPr>
              <a:xfrm>
                <a:off x="2186940" y="4316729"/>
                <a:ext cx="14364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𝑡</m:t>
                          </m:r>
                        </m:e>
                        <m:sub>
                          <m:r>
                            <a:rPr lang="en-IN" i="1">
                              <a:latin typeface="Cambria Math" panose="02040503050406030204" pitchFamily="18" charset="0"/>
                            </a:rPr>
                            <m:t>𝑚</m:t>
                          </m:r>
                        </m:sub>
                      </m:sSub>
                      <m:r>
                        <a:rPr lang="en-IN" i="0">
                          <a:latin typeface="Cambria Math" panose="02040503050406030204" pitchFamily="18" charset="0"/>
                        </a:rPr>
                        <m:t>=</m:t>
                      </m:r>
                      <m:r>
                        <a:rPr lang="en-IN" b="0" i="0" smtClean="0">
                          <a:latin typeface="Cambria Math" panose="02040503050406030204" pitchFamily="18" charset="0"/>
                        </a:rPr>
                        <m:t>0</m:t>
                      </m:r>
                      <m:r>
                        <a:rPr lang="en-IN" i="0">
                          <a:latin typeface="Cambria Math" panose="02040503050406030204" pitchFamily="18" charset="0"/>
                        </a:rPr>
                        <m:t>.05</m:t>
                      </m:r>
                      <m:r>
                        <a:rPr lang="en-IN" i="1">
                          <a:latin typeface="Cambria Math" panose="02040503050406030204" pitchFamily="18" charset="0"/>
                        </a:rPr>
                        <m:t>𝑚𝑚</m:t>
                      </m:r>
                    </m:oMath>
                  </m:oMathPara>
                </a14:m>
                <a:endParaRPr lang="en-IN" dirty="0"/>
              </a:p>
            </p:txBody>
          </p:sp>
        </mc:Choice>
        <mc:Fallback xmlns="">
          <p:sp>
            <p:nvSpPr>
              <p:cNvPr id="6" name="TextBox 5">
                <a:extLst>
                  <a:ext uri="{FF2B5EF4-FFF2-40B4-BE49-F238E27FC236}">
                    <a16:creationId xmlns:a16="http://schemas.microsoft.com/office/drawing/2014/main" id="{570727A3-48C7-B0F3-A72D-E2E7D31C5F2E}"/>
                  </a:ext>
                </a:extLst>
              </p:cNvPr>
              <p:cNvSpPr txBox="1">
                <a:spLocks noRot="1" noChangeAspect="1" noMove="1" noResize="1" noEditPoints="1" noAdjustHandles="1" noChangeArrowheads="1" noChangeShapeType="1" noTextEdit="1"/>
              </p:cNvSpPr>
              <p:nvPr/>
            </p:nvSpPr>
            <p:spPr>
              <a:xfrm>
                <a:off x="2186940" y="4316729"/>
                <a:ext cx="1436483" cy="276999"/>
              </a:xfrm>
              <a:prstGeom prst="rect">
                <a:avLst/>
              </a:prstGeom>
              <a:blipFill>
                <a:blip r:embed="rId9"/>
                <a:stretch>
                  <a:fillRect l="-3404" r="-2128" b="-86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3E779E1-DEF5-EFB6-9A79-9E8832DF669B}"/>
                  </a:ext>
                </a:extLst>
              </p:cNvPr>
              <p:cNvSpPr txBox="1"/>
              <p:nvPr/>
            </p:nvSpPr>
            <p:spPr>
              <a:xfrm>
                <a:off x="5058389" y="4071298"/>
                <a:ext cx="27890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𝐸𝑚</m:t>
                      </m:r>
                      <m:r>
                        <a:rPr lang="en-IN" i="0" smtClean="0">
                          <a:latin typeface="Cambria Math" panose="02040503050406030204" pitchFamily="18" charset="0"/>
                        </a:rPr>
                        <m:t>=5</m:t>
                      </m:r>
                      <m:r>
                        <a:rPr lang="en-IN" i="1" smtClean="0">
                          <a:latin typeface="Cambria Math" panose="02040503050406030204" pitchFamily="18" charset="0"/>
                        </a:rPr>
                        <m:t>𝐺𝑃𝑎</m:t>
                      </m:r>
                      <m:r>
                        <a:rPr lang="en-IN" b="0" i="1" smtClean="0">
                          <a:latin typeface="Cambria Math" panose="02040503050406030204" pitchFamily="18" charset="0"/>
                        </a:rPr>
                        <m:t>      </m:t>
                      </m:r>
                      <m:sSub>
                        <m:sSubPr>
                          <m:ctrlPr>
                            <a:rPr lang="en-IN" i="1" smtClean="0">
                              <a:latin typeface="Cambria Math" panose="02040503050406030204" pitchFamily="18" charset="0"/>
                            </a:rPr>
                          </m:ctrlPr>
                        </m:sSubPr>
                        <m:e>
                          <m:r>
                            <a:rPr lang="en-IN" i="1">
                              <a:latin typeface="Cambria Math" panose="02040503050406030204" pitchFamily="18" charset="0"/>
                            </a:rPr>
                            <m:t>𝐸</m:t>
                          </m:r>
                        </m:e>
                        <m:sub>
                          <m:r>
                            <a:rPr lang="en-IN" i="1">
                              <a:latin typeface="Cambria Math" panose="02040503050406030204" pitchFamily="18" charset="0"/>
                            </a:rPr>
                            <m:t>𝑠</m:t>
                          </m:r>
                        </m:sub>
                      </m:sSub>
                      <m:r>
                        <a:rPr lang="en-IN" i="0">
                          <a:latin typeface="Cambria Math" panose="02040503050406030204" pitchFamily="18" charset="0"/>
                        </a:rPr>
                        <m:t>=8</m:t>
                      </m:r>
                      <m:r>
                        <a:rPr lang="en-IN" i="1">
                          <a:latin typeface="Cambria Math" panose="02040503050406030204" pitchFamily="18" charset="0"/>
                        </a:rPr>
                        <m:t>𝑂𝐺𝑃𝑎</m:t>
                      </m:r>
                    </m:oMath>
                  </m:oMathPara>
                </a14:m>
                <a:endParaRPr lang="en-IN" dirty="0"/>
              </a:p>
            </p:txBody>
          </p:sp>
        </mc:Choice>
        <mc:Fallback xmlns="">
          <p:sp>
            <p:nvSpPr>
              <p:cNvPr id="8" name="TextBox 7">
                <a:extLst>
                  <a:ext uri="{FF2B5EF4-FFF2-40B4-BE49-F238E27FC236}">
                    <a16:creationId xmlns:a16="http://schemas.microsoft.com/office/drawing/2014/main" id="{23E779E1-DEF5-EFB6-9A79-9E8832DF669B}"/>
                  </a:ext>
                </a:extLst>
              </p:cNvPr>
              <p:cNvSpPr txBox="1">
                <a:spLocks noRot="1" noChangeAspect="1" noMove="1" noResize="1" noEditPoints="1" noAdjustHandles="1" noChangeArrowheads="1" noChangeShapeType="1" noTextEdit="1"/>
              </p:cNvSpPr>
              <p:nvPr/>
            </p:nvSpPr>
            <p:spPr>
              <a:xfrm>
                <a:off x="5058389" y="4071298"/>
                <a:ext cx="2789097" cy="276999"/>
              </a:xfrm>
              <a:prstGeom prst="rect">
                <a:avLst/>
              </a:prstGeom>
              <a:blipFill>
                <a:blip r:embed="rId10"/>
                <a:stretch>
                  <a:fillRect l="-1751" r="-1532" b="-11111"/>
                </a:stretch>
              </a:blipFill>
            </p:spPr>
            <p:txBody>
              <a:bodyPr/>
              <a:lstStyle/>
              <a:p>
                <a:r>
                  <a:rPr lang="en-IN">
                    <a:noFill/>
                  </a:rPr>
                  <a:t> </a:t>
                </a:r>
              </a:p>
            </p:txBody>
          </p:sp>
        </mc:Fallback>
      </mc:AlternateContent>
    </p:spTree>
    <p:extLst>
      <p:ext uri="{BB962C8B-B14F-4D97-AF65-F5344CB8AC3E}">
        <p14:creationId xmlns:p14="http://schemas.microsoft.com/office/powerpoint/2010/main" val="927661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B1A904-487C-D945-B125-F4644C87DD6B}"/>
              </a:ext>
            </a:extLst>
          </p:cNvPr>
          <p:cNvPicPr>
            <a:picLocks noChangeAspect="1"/>
          </p:cNvPicPr>
          <p:nvPr/>
        </p:nvPicPr>
        <p:blipFill>
          <a:blip r:embed="rId2"/>
          <a:stretch>
            <a:fillRect/>
          </a:stretch>
        </p:blipFill>
        <p:spPr>
          <a:xfrm>
            <a:off x="0" y="484952"/>
            <a:ext cx="9144000" cy="4658548"/>
          </a:xfrm>
          <a:prstGeom prst="rect">
            <a:avLst/>
          </a:prstGeom>
        </p:spPr>
      </p:pic>
      <p:sp>
        <p:nvSpPr>
          <p:cNvPr id="4" name="TextBox 3">
            <a:extLst>
              <a:ext uri="{FF2B5EF4-FFF2-40B4-BE49-F238E27FC236}">
                <a16:creationId xmlns:a16="http://schemas.microsoft.com/office/drawing/2014/main" id="{2BB7E171-1FF4-0107-A890-3174067E142D}"/>
              </a:ext>
            </a:extLst>
          </p:cNvPr>
          <p:cNvSpPr txBox="1"/>
          <p:nvPr/>
        </p:nvSpPr>
        <p:spPr>
          <a:xfrm>
            <a:off x="3589020" y="0"/>
            <a:ext cx="1303020" cy="461665"/>
          </a:xfrm>
          <a:prstGeom prst="rect">
            <a:avLst/>
          </a:prstGeom>
          <a:noFill/>
        </p:spPr>
        <p:txBody>
          <a:bodyPr wrap="square" rtlCol="0">
            <a:spAutoFit/>
          </a:bodyPr>
          <a:lstStyle/>
          <a:p>
            <a:r>
              <a:rPr lang="en-IN" sz="2400" dirty="0"/>
              <a:t>Results</a:t>
            </a:r>
          </a:p>
        </p:txBody>
      </p:sp>
    </p:spTree>
    <p:extLst>
      <p:ext uri="{BB962C8B-B14F-4D97-AF65-F5344CB8AC3E}">
        <p14:creationId xmlns:p14="http://schemas.microsoft.com/office/powerpoint/2010/main" val="3888509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4B09AE-140C-400A-4CA8-F4557E87183A}"/>
              </a:ext>
            </a:extLst>
          </p:cNvPr>
          <p:cNvSpPr txBox="1"/>
          <p:nvPr/>
        </p:nvSpPr>
        <p:spPr>
          <a:xfrm>
            <a:off x="719823" y="84654"/>
            <a:ext cx="7704353" cy="369332"/>
          </a:xfrm>
          <a:prstGeom prst="rect">
            <a:avLst/>
          </a:prstGeom>
          <a:noFill/>
        </p:spPr>
        <p:txBody>
          <a:bodyPr wrap="none" rtlCol="0">
            <a:spAutoFit/>
          </a:bodyPr>
          <a:lstStyle/>
          <a:p>
            <a:r>
              <a:rPr lang="en-IN" dirty="0"/>
              <a:t>Analysis by varying spar/stiffener ratio in vertically straight stiffener wing profile</a:t>
            </a:r>
          </a:p>
        </p:txBody>
      </p:sp>
      <p:sp>
        <p:nvSpPr>
          <p:cNvPr id="3" name="TextBox 2">
            <a:extLst>
              <a:ext uri="{FF2B5EF4-FFF2-40B4-BE49-F238E27FC236}">
                <a16:creationId xmlns:a16="http://schemas.microsoft.com/office/drawing/2014/main" id="{44C4DA09-5A3A-9A23-3DAD-4EB92FA608F1}"/>
              </a:ext>
            </a:extLst>
          </p:cNvPr>
          <p:cNvSpPr txBox="1"/>
          <p:nvPr/>
        </p:nvSpPr>
        <p:spPr>
          <a:xfrm>
            <a:off x="3383019" y="375166"/>
            <a:ext cx="2377959" cy="369332"/>
          </a:xfrm>
          <a:prstGeom prst="rect">
            <a:avLst/>
          </a:prstGeom>
          <a:noFill/>
        </p:spPr>
        <p:txBody>
          <a:bodyPr wrap="none" rtlCol="0">
            <a:spAutoFit/>
          </a:bodyPr>
          <a:lstStyle/>
          <a:p>
            <a:r>
              <a:rPr lang="en-IN" dirty="0"/>
              <a:t>spar/stiff = 0.5/2 = 0.25</a:t>
            </a:r>
          </a:p>
        </p:txBody>
      </p:sp>
      <p:pic>
        <p:nvPicPr>
          <p:cNvPr id="7" name="Picture 6">
            <a:extLst>
              <a:ext uri="{FF2B5EF4-FFF2-40B4-BE49-F238E27FC236}">
                <a16:creationId xmlns:a16="http://schemas.microsoft.com/office/drawing/2014/main" id="{AF1E650F-DA6A-933B-92A6-EC2E5B0BEB1E}"/>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856736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870844-DE1A-EA0B-FEFF-4BA0FBA319FB}"/>
              </a:ext>
            </a:extLst>
          </p:cNvPr>
          <p:cNvSpPr txBox="1"/>
          <p:nvPr/>
        </p:nvSpPr>
        <p:spPr>
          <a:xfrm>
            <a:off x="3593527" y="152400"/>
            <a:ext cx="1956946" cy="369332"/>
          </a:xfrm>
          <a:prstGeom prst="rect">
            <a:avLst/>
          </a:prstGeom>
          <a:noFill/>
        </p:spPr>
        <p:txBody>
          <a:bodyPr wrap="none" rtlCol="0">
            <a:spAutoFit/>
          </a:bodyPr>
          <a:lstStyle/>
          <a:p>
            <a:r>
              <a:rPr lang="en-IN" dirty="0"/>
              <a:t>Spar/Stiff = ½ = 0.5</a:t>
            </a:r>
          </a:p>
        </p:txBody>
      </p:sp>
      <p:pic>
        <p:nvPicPr>
          <p:cNvPr id="4" name="Picture 3">
            <a:extLst>
              <a:ext uri="{FF2B5EF4-FFF2-40B4-BE49-F238E27FC236}">
                <a16:creationId xmlns:a16="http://schemas.microsoft.com/office/drawing/2014/main" id="{DC0DA530-0864-D80F-A734-F6381710B3F1}"/>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32489993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DA07AB-64E8-05CF-AB11-511571329008}"/>
              </a:ext>
            </a:extLst>
          </p:cNvPr>
          <p:cNvSpPr txBox="1"/>
          <p:nvPr/>
        </p:nvSpPr>
        <p:spPr>
          <a:xfrm>
            <a:off x="3596733" y="213360"/>
            <a:ext cx="1950534" cy="369332"/>
          </a:xfrm>
          <a:prstGeom prst="rect">
            <a:avLst/>
          </a:prstGeom>
          <a:noFill/>
        </p:spPr>
        <p:txBody>
          <a:bodyPr wrap="none" rtlCol="0">
            <a:spAutoFit/>
          </a:bodyPr>
          <a:lstStyle/>
          <a:p>
            <a:r>
              <a:rPr lang="en-IN" dirty="0"/>
              <a:t>Spar/Stiff = 1/1 = 1</a:t>
            </a:r>
          </a:p>
        </p:txBody>
      </p:sp>
      <p:pic>
        <p:nvPicPr>
          <p:cNvPr id="4" name="Picture 3">
            <a:extLst>
              <a:ext uri="{FF2B5EF4-FFF2-40B4-BE49-F238E27FC236}">
                <a16:creationId xmlns:a16="http://schemas.microsoft.com/office/drawing/2014/main" id="{CBFBC2CB-801A-5C42-6F79-4ABF518F7B0C}"/>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1976273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2147FA-333E-645F-5652-89052CA7A50A}"/>
              </a:ext>
            </a:extLst>
          </p:cNvPr>
          <p:cNvSpPr txBox="1"/>
          <p:nvPr/>
        </p:nvSpPr>
        <p:spPr>
          <a:xfrm>
            <a:off x="3422005" y="215146"/>
            <a:ext cx="2299989" cy="369332"/>
          </a:xfrm>
          <a:prstGeom prst="rect">
            <a:avLst/>
          </a:prstGeom>
          <a:noFill/>
        </p:spPr>
        <p:txBody>
          <a:bodyPr wrap="none" rtlCol="0">
            <a:spAutoFit/>
          </a:bodyPr>
          <a:lstStyle/>
          <a:p>
            <a:r>
              <a:rPr lang="en-IN" dirty="0"/>
              <a:t>Spar/Stiff = 1.5/1 = 1.5</a:t>
            </a:r>
          </a:p>
        </p:txBody>
      </p:sp>
      <p:pic>
        <p:nvPicPr>
          <p:cNvPr id="4" name="Picture 3">
            <a:extLst>
              <a:ext uri="{FF2B5EF4-FFF2-40B4-BE49-F238E27FC236}">
                <a16:creationId xmlns:a16="http://schemas.microsoft.com/office/drawing/2014/main" id="{ADE33EB0-C844-73A4-7A42-19C71AECFB75}"/>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2709299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DBC40C-C231-E65E-FB12-6C06D4640460}"/>
              </a:ext>
            </a:extLst>
          </p:cNvPr>
          <p:cNvSpPr txBox="1"/>
          <p:nvPr/>
        </p:nvSpPr>
        <p:spPr>
          <a:xfrm>
            <a:off x="3596733" y="213360"/>
            <a:ext cx="1950534" cy="369332"/>
          </a:xfrm>
          <a:prstGeom prst="rect">
            <a:avLst/>
          </a:prstGeom>
          <a:noFill/>
        </p:spPr>
        <p:txBody>
          <a:bodyPr wrap="none" rtlCol="0">
            <a:spAutoFit/>
          </a:bodyPr>
          <a:lstStyle/>
          <a:p>
            <a:r>
              <a:rPr lang="en-IN" dirty="0"/>
              <a:t>Spar/Stiff = 2/1 = 2</a:t>
            </a:r>
          </a:p>
        </p:txBody>
      </p:sp>
      <p:pic>
        <p:nvPicPr>
          <p:cNvPr id="4" name="Picture 3">
            <a:extLst>
              <a:ext uri="{FF2B5EF4-FFF2-40B4-BE49-F238E27FC236}">
                <a16:creationId xmlns:a16="http://schemas.microsoft.com/office/drawing/2014/main" id="{DABC8B71-2DFE-BF1A-CD7C-629874DFD620}"/>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3565455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E8E770-54D5-4856-D6FB-5310B02EBE9D}"/>
              </a:ext>
            </a:extLst>
          </p:cNvPr>
          <p:cNvSpPr txBox="1"/>
          <p:nvPr/>
        </p:nvSpPr>
        <p:spPr>
          <a:xfrm>
            <a:off x="3596733" y="205740"/>
            <a:ext cx="1950534" cy="369332"/>
          </a:xfrm>
          <a:prstGeom prst="rect">
            <a:avLst/>
          </a:prstGeom>
          <a:noFill/>
        </p:spPr>
        <p:txBody>
          <a:bodyPr wrap="none" rtlCol="0">
            <a:spAutoFit/>
          </a:bodyPr>
          <a:lstStyle/>
          <a:p>
            <a:r>
              <a:rPr lang="en-IN" dirty="0"/>
              <a:t>Spar/Stiff = 2/2 = 1</a:t>
            </a:r>
          </a:p>
        </p:txBody>
      </p:sp>
      <p:pic>
        <p:nvPicPr>
          <p:cNvPr id="4" name="Picture 3">
            <a:extLst>
              <a:ext uri="{FF2B5EF4-FFF2-40B4-BE49-F238E27FC236}">
                <a16:creationId xmlns:a16="http://schemas.microsoft.com/office/drawing/2014/main" id="{AFF6DA01-FACA-C9C7-DB2A-AA4B5EDCBC96}"/>
              </a:ext>
            </a:extLst>
          </p:cNvPr>
          <p:cNvPicPr>
            <a:picLocks noChangeAspect="1"/>
          </p:cNvPicPr>
          <p:nvPr/>
        </p:nvPicPr>
        <p:blipFill>
          <a:blip r:embed="rId2"/>
          <a:stretch>
            <a:fillRect/>
          </a:stretch>
        </p:blipFill>
        <p:spPr>
          <a:xfrm>
            <a:off x="93" y="771525"/>
            <a:ext cx="9144000" cy="4371975"/>
          </a:xfrm>
          <a:prstGeom prst="rect">
            <a:avLst/>
          </a:prstGeom>
        </p:spPr>
      </p:pic>
    </p:spTree>
    <p:extLst>
      <p:ext uri="{BB962C8B-B14F-4D97-AF65-F5344CB8AC3E}">
        <p14:creationId xmlns:p14="http://schemas.microsoft.com/office/powerpoint/2010/main" val="1340107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1EFC4A-D735-E347-1395-3FF14385D9D9}"/>
              </a:ext>
            </a:extLst>
          </p:cNvPr>
          <p:cNvSpPr txBox="1"/>
          <p:nvPr/>
        </p:nvSpPr>
        <p:spPr>
          <a:xfrm>
            <a:off x="2306796" y="38100"/>
            <a:ext cx="4530407" cy="461665"/>
          </a:xfrm>
          <a:prstGeom prst="rect">
            <a:avLst/>
          </a:prstGeom>
          <a:noFill/>
        </p:spPr>
        <p:txBody>
          <a:bodyPr wrap="none" rtlCol="0">
            <a:spAutoFit/>
          </a:bodyPr>
          <a:lstStyle/>
          <a:p>
            <a:r>
              <a:rPr lang="en-IN" sz="2400" dirty="0"/>
              <a:t>Vertically Inclined Carbon Stiffener</a:t>
            </a:r>
          </a:p>
        </p:txBody>
      </p:sp>
      <p:pic>
        <p:nvPicPr>
          <p:cNvPr id="6" name="Picture 5">
            <a:extLst>
              <a:ext uri="{FF2B5EF4-FFF2-40B4-BE49-F238E27FC236}">
                <a16:creationId xmlns:a16="http://schemas.microsoft.com/office/drawing/2014/main" id="{F86B8FB1-7AE3-4519-907A-34709E3D2FA9}"/>
              </a:ext>
            </a:extLst>
          </p:cNvPr>
          <p:cNvPicPr>
            <a:picLocks noChangeAspect="1"/>
          </p:cNvPicPr>
          <p:nvPr/>
        </p:nvPicPr>
        <p:blipFill>
          <a:blip r:embed="rId2"/>
          <a:stretch>
            <a:fillRect/>
          </a:stretch>
        </p:blipFill>
        <p:spPr>
          <a:xfrm>
            <a:off x="0" y="499765"/>
            <a:ext cx="9144000" cy="4371975"/>
          </a:xfrm>
          <a:prstGeom prst="rect">
            <a:avLst/>
          </a:prstGeom>
        </p:spPr>
      </p:pic>
    </p:spTree>
    <p:extLst>
      <p:ext uri="{BB962C8B-B14F-4D97-AF65-F5344CB8AC3E}">
        <p14:creationId xmlns:p14="http://schemas.microsoft.com/office/powerpoint/2010/main" val="2318864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86E3E-2544-F819-5FB9-AFB1FC6511B9}"/>
              </a:ext>
            </a:extLst>
          </p:cNvPr>
          <p:cNvPicPr>
            <a:picLocks noChangeAspect="1"/>
          </p:cNvPicPr>
          <p:nvPr/>
        </p:nvPicPr>
        <p:blipFill>
          <a:blip r:embed="rId2"/>
          <a:stretch>
            <a:fillRect/>
          </a:stretch>
        </p:blipFill>
        <p:spPr>
          <a:xfrm>
            <a:off x="1347166" y="182880"/>
            <a:ext cx="1610351" cy="2385060"/>
          </a:xfrm>
          <a:prstGeom prst="rect">
            <a:avLst/>
          </a:prstGeom>
        </p:spPr>
      </p:pic>
      <p:pic>
        <p:nvPicPr>
          <p:cNvPr id="9" name="Picture 8">
            <a:extLst>
              <a:ext uri="{FF2B5EF4-FFF2-40B4-BE49-F238E27FC236}">
                <a16:creationId xmlns:a16="http://schemas.microsoft.com/office/drawing/2014/main" id="{E5D1DBF7-BCAC-69BD-B19E-97137EEEF12D}"/>
              </a:ext>
            </a:extLst>
          </p:cNvPr>
          <p:cNvPicPr>
            <a:picLocks noChangeAspect="1"/>
          </p:cNvPicPr>
          <p:nvPr/>
        </p:nvPicPr>
        <p:blipFill>
          <a:blip r:embed="rId3"/>
          <a:stretch>
            <a:fillRect/>
          </a:stretch>
        </p:blipFill>
        <p:spPr>
          <a:xfrm>
            <a:off x="5427871" y="186690"/>
            <a:ext cx="1969751" cy="2385060"/>
          </a:xfrm>
          <a:prstGeom prst="rect">
            <a:avLst/>
          </a:prstGeom>
        </p:spPr>
      </p:pic>
      <p:sp>
        <p:nvSpPr>
          <p:cNvPr id="2" name="TextBox 1">
            <a:extLst>
              <a:ext uri="{FF2B5EF4-FFF2-40B4-BE49-F238E27FC236}">
                <a16:creationId xmlns:a16="http://schemas.microsoft.com/office/drawing/2014/main" id="{94DB31C1-8589-BB81-B276-63F3B0382968}"/>
              </a:ext>
            </a:extLst>
          </p:cNvPr>
          <p:cNvSpPr txBox="1"/>
          <p:nvPr/>
        </p:nvSpPr>
        <p:spPr>
          <a:xfrm>
            <a:off x="1251551" y="2670810"/>
            <a:ext cx="1801583" cy="307777"/>
          </a:xfrm>
          <a:prstGeom prst="rect">
            <a:avLst/>
          </a:prstGeom>
          <a:noFill/>
        </p:spPr>
        <p:txBody>
          <a:bodyPr wrap="none" rtlCol="0">
            <a:spAutoFit/>
          </a:bodyPr>
          <a:lstStyle/>
          <a:p>
            <a:r>
              <a:rPr lang="en-IN" sz="1400" dirty="0"/>
              <a:t>Rectangular Strip Spar</a:t>
            </a:r>
          </a:p>
        </p:txBody>
      </p:sp>
      <p:sp>
        <p:nvSpPr>
          <p:cNvPr id="3" name="TextBox 2">
            <a:extLst>
              <a:ext uri="{FF2B5EF4-FFF2-40B4-BE49-F238E27FC236}">
                <a16:creationId xmlns:a16="http://schemas.microsoft.com/office/drawing/2014/main" id="{9349679A-E7A3-165F-E7DB-CA3DBC362553}"/>
              </a:ext>
            </a:extLst>
          </p:cNvPr>
          <p:cNvSpPr txBox="1"/>
          <p:nvPr/>
        </p:nvSpPr>
        <p:spPr>
          <a:xfrm>
            <a:off x="4957326" y="2655421"/>
            <a:ext cx="2910840" cy="523220"/>
          </a:xfrm>
          <a:prstGeom prst="rect">
            <a:avLst/>
          </a:prstGeom>
          <a:noFill/>
        </p:spPr>
        <p:txBody>
          <a:bodyPr wrap="square" rtlCol="0">
            <a:spAutoFit/>
          </a:bodyPr>
          <a:lstStyle/>
          <a:p>
            <a:pPr algn="ctr"/>
            <a:r>
              <a:rPr lang="en-IN" sz="1400" dirty="0"/>
              <a:t>Rectangular Strip with 45</a:t>
            </a:r>
            <a:r>
              <a:rPr lang="en-IN" sz="1400" dirty="0">
                <a:latin typeface="Rod" panose="02030509050101010101" pitchFamily="49" charset="-79"/>
                <a:cs typeface="Rod" panose="02030509050101010101" pitchFamily="49" charset="-79"/>
              </a:rPr>
              <a:t>˚</a:t>
            </a:r>
            <a:r>
              <a:rPr lang="en-IN" sz="1400" dirty="0"/>
              <a:t> inclined stiffener</a:t>
            </a:r>
            <a:endParaRPr lang="en-IN" sz="1400" dirty="0">
              <a:latin typeface="Rod" panose="02030509050101010101" pitchFamily="49" charset="-79"/>
              <a:cs typeface="Rod" panose="02030509050101010101" pitchFamily="49" charset="-79"/>
            </a:endParaRPr>
          </a:p>
        </p:txBody>
      </p:sp>
      <p:sp>
        <p:nvSpPr>
          <p:cNvPr id="4" name="TextBox 3">
            <a:extLst>
              <a:ext uri="{FF2B5EF4-FFF2-40B4-BE49-F238E27FC236}">
                <a16:creationId xmlns:a16="http://schemas.microsoft.com/office/drawing/2014/main" id="{7394C035-E516-99E5-99D3-E4312DE8793A}"/>
              </a:ext>
            </a:extLst>
          </p:cNvPr>
          <p:cNvSpPr txBox="1"/>
          <p:nvPr/>
        </p:nvSpPr>
        <p:spPr>
          <a:xfrm>
            <a:off x="1691079" y="3122324"/>
            <a:ext cx="1067921" cy="307777"/>
          </a:xfrm>
          <a:prstGeom prst="rect">
            <a:avLst/>
          </a:prstGeom>
          <a:noFill/>
        </p:spPr>
        <p:txBody>
          <a:bodyPr wrap="none" rtlCol="0">
            <a:spAutoFit/>
          </a:bodyPr>
          <a:lstStyle/>
          <a:p>
            <a:r>
              <a:rPr lang="en-IN" sz="1400" dirty="0"/>
              <a:t>Left triangle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97AA1AA-F67E-ADA6-8675-7D6A43EF9E5F}"/>
                  </a:ext>
                </a:extLst>
              </p:cNvPr>
              <p:cNvSpPr txBox="1"/>
              <p:nvPr/>
            </p:nvSpPr>
            <p:spPr>
              <a:xfrm>
                <a:off x="950569" y="3615663"/>
                <a:ext cx="2403543" cy="6492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400" i="1" smtClean="0">
                          <a:latin typeface="Cambria Math" panose="02040503050406030204" pitchFamily="18" charset="0"/>
                        </a:rPr>
                        <m:t>𝐴</m:t>
                      </m:r>
                      <m:r>
                        <a:rPr lang="en-IN" sz="1400" i="0">
                          <a:latin typeface="Cambria Math" panose="02040503050406030204" pitchFamily="18" charset="0"/>
                        </a:rPr>
                        <m:t>=</m:t>
                      </m:r>
                      <m:nary>
                        <m:naryPr>
                          <m:limLoc m:val="undOvr"/>
                          <m:grow m:val="on"/>
                          <m:ctrlPr>
                            <a:rPr lang="en-IN" sz="1400" i="1">
                              <a:latin typeface="Cambria Math" panose="02040503050406030204" pitchFamily="18" charset="0"/>
                            </a:rPr>
                          </m:ctrlPr>
                        </m:naryPr>
                        <m:sub>
                          <m:r>
                            <a:rPr lang="en-IN" sz="1400" i="0">
                              <a:latin typeface="Cambria Math" panose="02040503050406030204" pitchFamily="18" charset="0"/>
                            </a:rPr>
                            <m:t>0</m:t>
                          </m:r>
                        </m:sub>
                        <m:sup>
                          <m:r>
                            <a:rPr lang="en-IN" sz="1400" i="0">
                              <a:latin typeface="Cambria Math" panose="02040503050406030204" pitchFamily="18" charset="0"/>
                            </a:rPr>
                            <m:t>6</m:t>
                          </m:r>
                        </m:sup>
                        <m:e>
                          <m:r>
                            <a:rPr lang="en-IN" sz="1400" i="1">
                              <a:latin typeface="Cambria Math" panose="02040503050406030204" pitchFamily="18" charset="0"/>
                            </a:rPr>
                            <m:t>𝐸</m:t>
                          </m:r>
                          <m:r>
                            <a:rPr lang="en-IN" sz="1400" i="0">
                              <a:latin typeface="Cambria Math" panose="02040503050406030204" pitchFamily="18" charset="0"/>
                            </a:rPr>
                            <m:t>⋅</m:t>
                          </m:r>
                          <m:r>
                            <a:rPr lang="en-IN" sz="1400" i="1">
                              <a:latin typeface="Cambria Math" panose="02040503050406030204" pitchFamily="18" charset="0"/>
                            </a:rPr>
                            <m:t>𝑡</m:t>
                          </m:r>
                          <m:d>
                            <m:dPr>
                              <m:ctrlPr>
                                <a:rPr lang="en-IN" sz="1400" i="1">
                                  <a:latin typeface="Cambria Math" panose="02040503050406030204" pitchFamily="18" charset="0"/>
                                </a:rPr>
                              </m:ctrlPr>
                            </m:dPr>
                            <m:e>
                              <m:r>
                                <a:rPr lang="en-IN" sz="1400" i="0">
                                  <a:latin typeface="Cambria Math" panose="02040503050406030204" pitchFamily="18" charset="0"/>
                                </a:rPr>
                                <m:t>5−</m:t>
                              </m:r>
                              <m:rad>
                                <m:radPr>
                                  <m:degHide m:val="on"/>
                                  <m:ctrlPr>
                                    <a:rPr lang="en-IN" sz="1400" i="1">
                                      <a:latin typeface="Cambria Math" panose="02040503050406030204" pitchFamily="18" charset="0"/>
                                    </a:rPr>
                                  </m:ctrlPr>
                                </m:radPr>
                                <m:deg/>
                                <m:e>
                                  <m:r>
                                    <a:rPr lang="en-IN" sz="1400" i="0">
                                      <a:latin typeface="Cambria Math" panose="02040503050406030204" pitchFamily="18" charset="0"/>
                                    </a:rPr>
                                    <m:t>2</m:t>
                                  </m:r>
                                </m:e>
                              </m:rad>
                            </m:e>
                          </m:d>
                          <m:d>
                            <m:dPr>
                              <m:ctrlPr>
                                <a:rPr lang="en-IN" sz="1400" i="1">
                                  <a:latin typeface="Cambria Math" panose="02040503050406030204" pitchFamily="18" charset="0"/>
                                </a:rPr>
                              </m:ctrlPr>
                            </m:dPr>
                            <m:e>
                              <m:r>
                                <a:rPr lang="en-IN" sz="1400" i="1">
                                  <a:latin typeface="Cambria Math" panose="02040503050406030204" pitchFamily="18" charset="0"/>
                                </a:rPr>
                                <m:t>𝑙</m:t>
                              </m:r>
                              <m:r>
                                <a:rPr lang="en-IN" sz="1400" i="0">
                                  <a:latin typeface="Cambria Math" panose="02040503050406030204" pitchFamily="18" charset="0"/>
                                </a:rPr>
                                <m:t>−</m:t>
                              </m:r>
                              <m:f>
                                <m:fPr>
                                  <m:ctrlPr>
                                    <a:rPr lang="en-IN" sz="1400" i="1">
                                      <a:latin typeface="Cambria Math" panose="02040503050406030204" pitchFamily="18" charset="0"/>
                                    </a:rPr>
                                  </m:ctrlPr>
                                </m:fPr>
                                <m:num>
                                  <m:r>
                                    <a:rPr lang="en-IN" sz="1400" i="1">
                                      <a:latin typeface="Cambria Math" panose="02040503050406030204" pitchFamily="18" charset="0"/>
                                    </a:rPr>
                                    <m:t>𝑦</m:t>
                                  </m:r>
                                </m:num>
                                <m:den>
                                  <m:r>
                                    <a:rPr lang="en-IN" sz="1400" i="0">
                                      <a:latin typeface="Cambria Math" panose="02040503050406030204" pitchFamily="18" charset="0"/>
                                    </a:rPr>
                                    <m:t>6</m:t>
                                  </m:r>
                                </m:den>
                              </m:f>
                            </m:e>
                          </m:d>
                          <m:r>
                            <a:rPr lang="en-IN" sz="1400" i="0">
                              <a:latin typeface="Cambria Math" panose="02040503050406030204" pitchFamily="18" charset="0"/>
                            </a:rPr>
                            <m:t>ⅆ</m:t>
                          </m:r>
                          <m:r>
                            <a:rPr lang="en-IN" sz="1400" i="1">
                              <a:latin typeface="Cambria Math" panose="02040503050406030204" pitchFamily="18" charset="0"/>
                            </a:rPr>
                            <m:t>𝑦</m:t>
                          </m:r>
                        </m:e>
                      </m:nary>
                    </m:oMath>
                  </m:oMathPara>
                </a14:m>
                <a:endParaRPr lang="en-IN" sz="1400" dirty="0"/>
              </a:p>
            </p:txBody>
          </p:sp>
        </mc:Choice>
        <mc:Fallback xmlns="">
          <p:sp>
            <p:nvSpPr>
              <p:cNvPr id="5" name="TextBox 4">
                <a:extLst>
                  <a:ext uri="{FF2B5EF4-FFF2-40B4-BE49-F238E27FC236}">
                    <a16:creationId xmlns:a16="http://schemas.microsoft.com/office/drawing/2014/main" id="{497AA1AA-F67E-ADA6-8675-7D6A43EF9E5F}"/>
                  </a:ext>
                </a:extLst>
              </p:cNvPr>
              <p:cNvSpPr txBox="1">
                <a:spLocks noRot="1" noChangeAspect="1" noMove="1" noResize="1" noEditPoints="1" noAdjustHandles="1" noChangeArrowheads="1" noChangeShapeType="1" noTextEdit="1"/>
              </p:cNvSpPr>
              <p:nvPr/>
            </p:nvSpPr>
            <p:spPr>
              <a:xfrm>
                <a:off x="950569" y="3615663"/>
                <a:ext cx="2403543" cy="64921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93F74A2-A286-0CA5-93B6-40BD8E58F996}"/>
                  </a:ext>
                </a:extLst>
              </p:cNvPr>
              <p:cNvSpPr txBox="1"/>
              <p:nvPr/>
            </p:nvSpPr>
            <p:spPr>
              <a:xfrm>
                <a:off x="527249" y="4264880"/>
                <a:ext cx="3250184" cy="6492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grow m:val="on"/>
                          <m:subHide m:val="on"/>
                          <m:supHide m:val="on"/>
                          <m:ctrlPr>
                            <a:rPr lang="en-IN" sz="1400" i="1" smtClean="0">
                              <a:latin typeface="Cambria Math" panose="02040503050406030204" pitchFamily="18" charset="0"/>
                            </a:rPr>
                          </m:ctrlPr>
                        </m:naryPr>
                        <m:sub/>
                        <m:sup/>
                        <m:e>
                          <m:r>
                            <a:rPr lang="en-IN" sz="1400" i="1">
                              <a:latin typeface="Cambria Math" panose="02040503050406030204" pitchFamily="18" charset="0"/>
                            </a:rPr>
                            <m:t>𝐸𝐴𝑌</m:t>
                          </m:r>
                        </m:e>
                      </m:nary>
                      <m:r>
                        <a:rPr lang="en-IN" sz="1400" i="0">
                          <a:latin typeface="Cambria Math" panose="02040503050406030204" pitchFamily="18" charset="0"/>
                        </a:rPr>
                        <m:t>=</m:t>
                      </m:r>
                      <m:nary>
                        <m:naryPr>
                          <m:limLoc m:val="undOvr"/>
                          <m:grow m:val="on"/>
                          <m:ctrlPr>
                            <a:rPr lang="en-IN" sz="1400" i="1">
                              <a:latin typeface="Cambria Math" panose="02040503050406030204" pitchFamily="18" charset="0"/>
                            </a:rPr>
                          </m:ctrlPr>
                        </m:naryPr>
                        <m:sub>
                          <m:r>
                            <a:rPr lang="en-IN" sz="1400" i="0">
                              <a:latin typeface="Cambria Math" panose="02040503050406030204" pitchFamily="18" charset="0"/>
                            </a:rPr>
                            <m:t>0</m:t>
                          </m:r>
                        </m:sub>
                        <m:sup>
                          <m:r>
                            <a:rPr lang="en-IN" sz="1400" i="0">
                              <a:latin typeface="Cambria Math" panose="02040503050406030204" pitchFamily="18" charset="0"/>
                            </a:rPr>
                            <m:t>6</m:t>
                          </m:r>
                        </m:sup>
                        <m:e>
                          <m:r>
                            <a:rPr lang="en-IN" sz="1400" i="1">
                              <a:latin typeface="Cambria Math" panose="02040503050406030204" pitchFamily="18" charset="0"/>
                            </a:rPr>
                            <m:t>𝐸</m:t>
                          </m:r>
                        </m:e>
                      </m:nary>
                      <m:r>
                        <a:rPr lang="en-IN" sz="1400" i="0">
                          <a:latin typeface="Cambria Math" panose="02040503050406030204" pitchFamily="18" charset="0"/>
                        </a:rPr>
                        <m:t>⋅</m:t>
                      </m:r>
                      <m:r>
                        <a:rPr lang="en-IN" sz="1400" i="1">
                          <a:latin typeface="Cambria Math" panose="02040503050406030204" pitchFamily="18" charset="0"/>
                        </a:rPr>
                        <m:t>𝑡</m:t>
                      </m:r>
                      <m:r>
                        <a:rPr lang="en-IN" sz="1400" i="0">
                          <a:latin typeface="Cambria Math" panose="02040503050406030204" pitchFamily="18" charset="0"/>
                        </a:rPr>
                        <m:t>⋅</m:t>
                      </m:r>
                      <m:d>
                        <m:dPr>
                          <m:ctrlPr>
                            <a:rPr lang="en-IN" sz="1400" i="1">
                              <a:latin typeface="Cambria Math" panose="02040503050406030204" pitchFamily="18" charset="0"/>
                            </a:rPr>
                          </m:ctrlPr>
                        </m:dPr>
                        <m:e>
                          <m:r>
                            <a:rPr lang="en-IN" sz="1400" i="0">
                              <a:latin typeface="Cambria Math" panose="02040503050406030204" pitchFamily="18" charset="0"/>
                            </a:rPr>
                            <m:t>5−</m:t>
                          </m:r>
                          <m:rad>
                            <m:radPr>
                              <m:degHide m:val="on"/>
                              <m:ctrlPr>
                                <a:rPr lang="en-IN" sz="1400" i="1">
                                  <a:latin typeface="Cambria Math" panose="02040503050406030204" pitchFamily="18" charset="0"/>
                                </a:rPr>
                              </m:ctrlPr>
                            </m:radPr>
                            <m:deg/>
                            <m:e>
                              <m:r>
                                <a:rPr lang="en-IN" sz="1400" i="0">
                                  <a:latin typeface="Cambria Math" panose="02040503050406030204" pitchFamily="18" charset="0"/>
                                </a:rPr>
                                <m:t>2</m:t>
                              </m:r>
                            </m:e>
                          </m:rad>
                        </m:e>
                      </m:d>
                      <m:r>
                        <a:rPr lang="en-IN" sz="1400" i="0">
                          <a:latin typeface="Cambria Math" panose="02040503050406030204" pitchFamily="18" charset="0"/>
                        </a:rPr>
                        <m:t>⋅</m:t>
                      </m:r>
                      <m:d>
                        <m:dPr>
                          <m:ctrlPr>
                            <a:rPr lang="en-IN" sz="1400" i="1">
                              <a:latin typeface="Cambria Math" panose="02040503050406030204" pitchFamily="18" charset="0"/>
                            </a:rPr>
                          </m:ctrlPr>
                        </m:dPr>
                        <m:e>
                          <m:r>
                            <a:rPr lang="en-IN" sz="1400" i="0">
                              <a:latin typeface="Cambria Math" panose="02040503050406030204" pitchFamily="18" charset="0"/>
                            </a:rPr>
                            <m:t>1−</m:t>
                          </m:r>
                          <m:f>
                            <m:fPr>
                              <m:ctrlPr>
                                <a:rPr lang="en-IN" sz="1400" i="1">
                                  <a:latin typeface="Cambria Math" panose="02040503050406030204" pitchFamily="18" charset="0"/>
                                </a:rPr>
                              </m:ctrlPr>
                            </m:fPr>
                            <m:num>
                              <m:r>
                                <a:rPr lang="en-IN" sz="1400" i="1">
                                  <a:latin typeface="Cambria Math" panose="02040503050406030204" pitchFamily="18" charset="0"/>
                                </a:rPr>
                                <m:t>𝑦</m:t>
                              </m:r>
                            </m:num>
                            <m:den>
                              <m:r>
                                <a:rPr lang="en-IN" sz="1400" i="0">
                                  <a:latin typeface="Cambria Math" panose="02040503050406030204" pitchFamily="18" charset="0"/>
                                </a:rPr>
                                <m:t>6</m:t>
                              </m:r>
                            </m:den>
                          </m:f>
                        </m:e>
                      </m:d>
                      <m:r>
                        <a:rPr lang="en-IN" sz="1400" i="1">
                          <a:latin typeface="Cambria Math" panose="02040503050406030204" pitchFamily="18" charset="0"/>
                        </a:rPr>
                        <m:t>𝑦</m:t>
                      </m:r>
                      <m:r>
                        <m:rPr>
                          <m:sty m:val="p"/>
                        </m:rPr>
                        <a:rPr lang="en-IN" sz="1400" b="0" i="1" smtClean="0">
                          <a:latin typeface="Cambria Math" panose="02040503050406030204" pitchFamily="18" charset="0"/>
                        </a:rPr>
                        <m:t>dy</m:t>
                      </m:r>
                    </m:oMath>
                  </m:oMathPara>
                </a14:m>
                <a:endParaRPr lang="en-IN" sz="1400" dirty="0"/>
              </a:p>
            </p:txBody>
          </p:sp>
        </mc:Choice>
        <mc:Fallback xmlns="">
          <p:sp>
            <p:nvSpPr>
              <p:cNvPr id="6" name="TextBox 5">
                <a:extLst>
                  <a:ext uri="{FF2B5EF4-FFF2-40B4-BE49-F238E27FC236}">
                    <a16:creationId xmlns:a16="http://schemas.microsoft.com/office/drawing/2014/main" id="{293F74A2-A286-0CA5-93B6-40BD8E58F996}"/>
                  </a:ext>
                </a:extLst>
              </p:cNvPr>
              <p:cNvSpPr txBox="1">
                <a:spLocks noRot="1" noChangeAspect="1" noMove="1" noResize="1" noEditPoints="1" noAdjustHandles="1" noChangeArrowheads="1" noChangeShapeType="1" noTextEdit="1"/>
              </p:cNvSpPr>
              <p:nvPr/>
            </p:nvSpPr>
            <p:spPr>
              <a:xfrm>
                <a:off x="527249" y="4264880"/>
                <a:ext cx="3250184" cy="64921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6DBFF55-6672-96EB-2FEB-7CED909FC55F}"/>
                  </a:ext>
                </a:extLst>
              </p:cNvPr>
              <p:cNvSpPr txBox="1"/>
              <p:nvPr/>
            </p:nvSpPr>
            <p:spPr>
              <a:xfrm>
                <a:off x="5158470" y="3571070"/>
                <a:ext cx="2066591" cy="6492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1400" i="1" smtClean="0">
                          <a:latin typeface="Cambria Math" panose="02040503050406030204" pitchFamily="18" charset="0"/>
                        </a:rPr>
                        <m:t>𝐴</m:t>
                      </m:r>
                      <m:r>
                        <a:rPr lang="en-IN" sz="1400" i="0">
                          <a:latin typeface="Cambria Math" panose="02040503050406030204" pitchFamily="18" charset="0"/>
                        </a:rPr>
                        <m:t>=</m:t>
                      </m:r>
                      <m:nary>
                        <m:naryPr>
                          <m:limLoc m:val="undOvr"/>
                          <m:grow m:val="on"/>
                          <m:ctrlPr>
                            <a:rPr lang="en-IN" sz="1400" i="1">
                              <a:latin typeface="Cambria Math" panose="02040503050406030204" pitchFamily="18" charset="0"/>
                            </a:rPr>
                          </m:ctrlPr>
                        </m:naryPr>
                        <m:sub>
                          <m:r>
                            <a:rPr lang="en-IN" sz="1400" i="0">
                              <a:latin typeface="Cambria Math" panose="02040503050406030204" pitchFamily="18" charset="0"/>
                            </a:rPr>
                            <m:t>0</m:t>
                          </m:r>
                        </m:sub>
                        <m:sup>
                          <m:r>
                            <a:rPr lang="en-IN" sz="1400" i="0">
                              <a:latin typeface="Cambria Math" panose="02040503050406030204" pitchFamily="18" charset="0"/>
                            </a:rPr>
                            <m:t>6</m:t>
                          </m:r>
                        </m:sup>
                        <m:e>
                          <m:r>
                            <a:rPr lang="en-IN" sz="1400" i="1">
                              <a:latin typeface="Cambria Math" panose="02040503050406030204" pitchFamily="18" charset="0"/>
                            </a:rPr>
                            <m:t>𝐸</m:t>
                          </m:r>
                        </m:e>
                      </m:nary>
                      <m:r>
                        <a:rPr lang="en-IN" sz="1400" i="0">
                          <a:latin typeface="Cambria Math" panose="02040503050406030204" pitchFamily="18" charset="0"/>
                        </a:rPr>
                        <m:t>⋅</m:t>
                      </m:r>
                      <m:r>
                        <a:rPr lang="en-IN" sz="1400" i="1">
                          <a:latin typeface="Cambria Math" panose="02040503050406030204" pitchFamily="18" charset="0"/>
                        </a:rPr>
                        <m:t>𝑡</m:t>
                      </m:r>
                      <m:r>
                        <a:rPr lang="en-IN" sz="1400" i="0">
                          <a:latin typeface="Cambria Math" panose="02040503050406030204" pitchFamily="18" charset="0"/>
                        </a:rPr>
                        <m:t>⋅</m:t>
                      </m:r>
                      <m:d>
                        <m:dPr>
                          <m:ctrlPr>
                            <a:rPr lang="en-IN" sz="1400" i="1">
                              <a:latin typeface="Cambria Math" panose="02040503050406030204" pitchFamily="18" charset="0"/>
                            </a:rPr>
                          </m:ctrlPr>
                        </m:dPr>
                        <m:e>
                          <m:r>
                            <a:rPr lang="en-IN" sz="1400" i="0">
                              <a:latin typeface="Cambria Math" panose="02040503050406030204" pitchFamily="18" charset="0"/>
                            </a:rPr>
                            <m:t>5−</m:t>
                          </m:r>
                          <m:rad>
                            <m:radPr>
                              <m:degHide m:val="on"/>
                              <m:ctrlPr>
                                <a:rPr lang="en-IN" sz="1400" i="1">
                                  <a:latin typeface="Cambria Math" panose="02040503050406030204" pitchFamily="18" charset="0"/>
                                </a:rPr>
                              </m:ctrlPr>
                            </m:radPr>
                            <m:deg/>
                            <m:e>
                              <m:r>
                                <a:rPr lang="en-IN" sz="1400" i="0">
                                  <a:latin typeface="Cambria Math" panose="02040503050406030204" pitchFamily="18" charset="0"/>
                                </a:rPr>
                                <m:t>2</m:t>
                              </m:r>
                            </m:e>
                          </m:rad>
                        </m:e>
                      </m:d>
                      <m:f>
                        <m:fPr>
                          <m:ctrlPr>
                            <a:rPr lang="en-IN" sz="1400" i="1">
                              <a:latin typeface="Cambria Math" panose="02040503050406030204" pitchFamily="18" charset="0"/>
                            </a:rPr>
                          </m:ctrlPr>
                        </m:fPr>
                        <m:num>
                          <m:r>
                            <a:rPr lang="en-IN" sz="1400" i="1">
                              <a:latin typeface="Cambria Math" panose="02040503050406030204" pitchFamily="18" charset="0"/>
                            </a:rPr>
                            <m:t>𝑦</m:t>
                          </m:r>
                        </m:num>
                        <m:den>
                          <m:r>
                            <a:rPr lang="en-IN" sz="1400" b="0" i="1" smtClean="0">
                              <a:latin typeface="Cambria Math" panose="02040503050406030204" pitchFamily="18" charset="0"/>
                            </a:rPr>
                            <m:t>6</m:t>
                          </m:r>
                        </m:den>
                      </m:f>
                      <m:r>
                        <m:rPr>
                          <m:sty m:val="p"/>
                        </m:rPr>
                        <a:rPr lang="en-IN" sz="1400" b="0" i="1" smtClean="0">
                          <a:latin typeface="Cambria Math" panose="02040503050406030204" pitchFamily="18" charset="0"/>
                        </a:rPr>
                        <m:t>dy</m:t>
                      </m:r>
                    </m:oMath>
                  </m:oMathPara>
                </a14:m>
                <a:endParaRPr lang="en-IN" sz="1400" dirty="0"/>
              </a:p>
            </p:txBody>
          </p:sp>
        </mc:Choice>
        <mc:Fallback xmlns="">
          <p:sp>
            <p:nvSpPr>
              <p:cNvPr id="8" name="TextBox 7">
                <a:extLst>
                  <a:ext uri="{FF2B5EF4-FFF2-40B4-BE49-F238E27FC236}">
                    <a16:creationId xmlns:a16="http://schemas.microsoft.com/office/drawing/2014/main" id="{06DBFF55-6672-96EB-2FEB-7CED909FC55F}"/>
                  </a:ext>
                </a:extLst>
              </p:cNvPr>
              <p:cNvSpPr txBox="1">
                <a:spLocks noRot="1" noChangeAspect="1" noMove="1" noResize="1" noEditPoints="1" noAdjustHandles="1" noChangeArrowheads="1" noChangeShapeType="1" noTextEdit="1"/>
              </p:cNvSpPr>
              <p:nvPr/>
            </p:nvSpPr>
            <p:spPr>
              <a:xfrm>
                <a:off x="5158470" y="3571070"/>
                <a:ext cx="2066591" cy="649217"/>
              </a:xfrm>
              <a:prstGeom prst="rect">
                <a:avLst/>
              </a:prstGeom>
              <a:blipFill>
                <a:blip r:embed="rId6"/>
                <a:stretch>
                  <a:fillRect b="-9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9B47A8-A662-CF40-2FDE-A1B1C623F440}"/>
                  </a:ext>
                </a:extLst>
              </p:cNvPr>
              <p:cNvSpPr txBox="1"/>
              <p:nvPr/>
            </p:nvSpPr>
            <p:spPr>
              <a:xfrm>
                <a:off x="4787918" y="4264879"/>
                <a:ext cx="2936381" cy="6492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grow m:val="on"/>
                          <m:subHide m:val="on"/>
                          <m:supHide m:val="on"/>
                          <m:ctrlPr>
                            <a:rPr lang="en-IN" sz="1400" i="1" smtClean="0">
                              <a:latin typeface="Cambria Math" panose="02040503050406030204" pitchFamily="18" charset="0"/>
                            </a:rPr>
                          </m:ctrlPr>
                        </m:naryPr>
                        <m:sub/>
                        <m:sup/>
                        <m:e>
                          <m:r>
                            <a:rPr lang="en-IN" sz="1400" i="1">
                              <a:latin typeface="Cambria Math" panose="02040503050406030204" pitchFamily="18" charset="0"/>
                            </a:rPr>
                            <m:t>𝐸𝐴𝑌</m:t>
                          </m:r>
                        </m:e>
                      </m:nary>
                      <m:r>
                        <a:rPr lang="en-IN" sz="1400" i="0">
                          <a:latin typeface="Cambria Math" panose="02040503050406030204" pitchFamily="18" charset="0"/>
                        </a:rPr>
                        <m:t>=</m:t>
                      </m:r>
                      <m:nary>
                        <m:naryPr>
                          <m:limLoc m:val="undOvr"/>
                          <m:grow m:val="on"/>
                          <m:ctrlPr>
                            <a:rPr lang="en-IN" sz="1400" i="1">
                              <a:latin typeface="Cambria Math" panose="02040503050406030204" pitchFamily="18" charset="0"/>
                            </a:rPr>
                          </m:ctrlPr>
                        </m:naryPr>
                        <m:sub>
                          <m:r>
                            <a:rPr lang="en-IN" sz="1400" i="0">
                              <a:latin typeface="Cambria Math" panose="02040503050406030204" pitchFamily="18" charset="0"/>
                            </a:rPr>
                            <m:t>0</m:t>
                          </m:r>
                        </m:sub>
                        <m:sup>
                          <m:r>
                            <a:rPr lang="en-IN" sz="1400" i="0">
                              <a:latin typeface="Cambria Math" panose="02040503050406030204" pitchFamily="18" charset="0"/>
                            </a:rPr>
                            <m:t>6</m:t>
                          </m:r>
                        </m:sup>
                        <m:e>
                          <m:r>
                            <a:rPr lang="en-IN" sz="1400" i="1">
                              <a:latin typeface="Cambria Math" panose="02040503050406030204" pitchFamily="18" charset="0"/>
                            </a:rPr>
                            <m:t>𝐸</m:t>
                          </m:r>
                        </m:e>
                      </m:nary>
                      <m:r>
                        <a:rPr lang="en-IN" sz="1400" i="0">
                          <a:latin typeface="Cambria Math" panose="02040503050406030204" pitchFamily="18" charset="0"/>
                        </a:rPr>
                        <m:t>⋅</m:t>
                      </m:r>
                      <m:r>
                        <a:rPr lang="en-IN" sz="1400" i="1">
                          <a:latin typeface="Cambria Math" panose="02040503050406030204" pitchFamily="18" charset="0"/>
                        </a:rPr>
                        <m:t>𝑡</m:t>
                      </m:r>
                      <m:r>
                        <a:rPr lang="en-IN" sz="1400" i="0">
                          <a:latin typeface="Cambria Math" panose="02040503050406030204" pitchFamily="18" charset="0"/>
                        </a:rPr>
                        <m:t>⋅</m:t>
                      </m:r>
                      <m:d>
                        <m:dPr>
                          <m:ctrlPr>
                            <a:rPr lang="en-IN" sz="1400" i="1">
                              <a:latin typeface="Cambria Math" panose="02040503050406030204" pitchFamily="18" charset="0"/>
                            </a:rPr>
                          </m:ctrlPr>
                        </m:dPr>
                        <m:e>
                          <m:r>
                            <a:rPr lang="en-IN" sz="1400" i="0">
                              <a:latin typeface="Cambria Math" panose="02040503050406030204" pitchFamily="18" charset="0"/>
                            </a:rPr>
                            <m:t>5−</m:t>
                          </m:r>
                          <m:rad>
                            <m:radPr>
                              <m:degHide m:val="on"/>
                              <m:ctrlPr>
                                <a:rPr lang="en-IN" sz="1400" i="1">
                                  <a:latin typeface="Cambria Math" panose="02040503050406030204" pitchFamily="18" charset="0"/>
                                </a:rPr>
                              </m:ctrlPr>
                            </m:radPr>
                            <m:deg/>
                            <m:e>
                              <m:r>
                                <a:rPr lang="en-IN" sz="1400" i="0">
                                  <a:latin typeface="Cambria Math" panose="02040503050406030204" pitchFamily="18" charset="0"/>
                                </a:rPr>
                                <m:t>2</m:t>
                              </m:r>
                            </m:e>
                          </m:rad>
                        </m:e>
                      </m:d>
                      <m:r>
                        <a:rPr lang="en-IN" sz="1400" i="0">
                          <a:latin typeface="Cambria Math" panose="02040503050406030204" pitchFamily="18" charset="0"/>
                        </a:rPr>
                        <m:t>⋅</m:t>
                      </m:r>
                      <m:d>
                        <m:dPr>
                          <m:ctrlPr>
                            <a:rPr lang="en-IN" sz="1400" i="1" smtClean="0">
                              <a:latin typeface="Cambria Math" panose="02040503050406030204" pitchFamily="18" charset="0"/>
                            </a:rPr>
                          </m:ctrlPr>
                        </m:dPr>
                        <m:e>
                          <m:f>
                            <m:fPr>
                              <m:ctrlPr>
                                <a:rPr lang="en-IN" sz="1400" i="1">
                                  <a:latin typeface="Cambria Math" panose="02040503050406030204" pitchFamily="18" charset="0"/>
                                </a:rPr>
                              </m:ctrlPr>
                            </m:fPr>
                            <m:num>
                              <m:r>
                                <a:rPr lang="en-IN" sz="1400" i="1">
                                  <a:latin typeface="Cambria Math" panose="02040503050406030204" pitchFamily="18" charset="0"/>
                                </a:rPr>
                                <m:t>𝑦</m:t>
                              </m:r>
                            </m:num>
                            <m:den>
                              <m:r>
                                <a:rPr lang="en-IN" sz="1400" i="0">
                                  <a:latin typeface="Cambria Math" panose="02040503050406030204" pitchFamily="18" charset="0"/>
                                </a:rPr>
                                <m:t>6</m:t>
                              </m:r>
                            </m:den>
                          </m:f>
                        </m:e>
                      </m:d>
                      <m:r>
                        <a:rPr lang="en-IN" sz="1400" i="1">
                          <a:latin typeface="Cambria Math" panose="02040503050406030204" pitchFamily="18" charset="0"/>
                        </a:rPr>
                        <m:t>𝑦</m:t>
                      </m:r>
                      <m:r>
                        <m:rPr>
                          <m:sty m:val="p"/>
                        </m:rPr>
                        <a:rPr lang="en-IN" sz="1400" b="0" i="1" smtClean="0">
                          <a:latin typeface="Cambria Math" panose="02040503050406030204" pitchFamily="18" charset="0"/>
                        </a:rPr>
                        <m:t>dy</m:t>
                      </m:r>
                    </m:oMath>
                  </m:oMathPara>
                </a14:m>
                <a:endParaRPr lang="en-IN" sz="1400" dirty="0"/>
              </a:p>
            </p:txBody>
          </p:sp>
        </mc:Choice>
        <mc:Fallback xmlns="">
          <p:sp>
            <p:nvSpPr>
              <p:cNvPr id="11" name="TextBox 10">
                <a:extLst>
                  <a:ext uri="{FF2B5EF4-FFF2-40B4-BE49-F238E27FC236}">
                    <a16:creationId xmlns:a16="http://schemas.microsoft.com/office/drawing/2014/main" id="{649B47A8-A662-CF40-2FDE-A1B1C623F440}"/>
                  </a:ext>
                </a:extLst>
              </p:cNvPr>
              <p:cNvSpPr txBox="1">
                <a:spLocks noRot="1" noChangeAspect="1" noMove="1" noResize="1" noEditPoints="1" noAdjustHandles="1" noChangeArrowheads="1" noChangeShapeType="1" noTextEdit="1"/>
              </p:cNvSpPr>
              <p:nvPr/>
            </p:nvSpPr>
            <p:spPr>
              <a:xfrm>
                <a:off x="4787918" y="4264879"/>
                <a:ext cx="2936381" cy="649217"/>
              </a:xfrm>
              <a:prstGeom prst="rect">
                <a:avLst/>
              </a:prstGeom>
              <a:blipFill>
                <a:blip r:embed="rId7"/>
                <a:stretch>
                  <a:fillRect/>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31729777-7964-D514-B619-D58BF8E77683}"/>
              </a:ext>
            </a:extLst>
          </p:cNvPr>
          <p:cNvSpPr txBox="1"/>
          <p:nvPr/>
        </p:nvSpPr>
        <p:spPr>
          <a:xfrm>
            <a:off x="5608945" y="3220967"/>
            <a:ext cx="1165640" cy="307777"/>
          </a:xfrm>
          <a:prstGeom prst="rect">
            <a:avLst/>
          </a:prstGeom>
          <a:noFill/>
        </p:spPr>
        <p:txBody>
          <a:bodyPr wrap="none" rtlCol="0">
            <a:spAutoFit/>
          </a:bodyPr>
          <a:lstStyle/>
          <a:p>
            <a:r>
              <a:rPr lang="en-IN" sz="1400" dirty="0"/>
              <a:t>Right triangle</a:t>
            </a:r>
          </a:p>
        </p:txBody>
      </p:sp>
    </p:spTree>
    <p:extLst>
      <p:ext uri="{BB962C8B-B14F-4D97-AF65-F5344CB8AC3E}">
        <p14:creationId xmlns:p14="http://schemas.microsoft.com/office/powerpoint/2010/main" val="3597722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507835-2442-CF5E-B80C-CE37A4782CEE}"/>
              </a:ext>
            </a:extLst>
          </p:cNvPr>
          <p:cNvPicPr>
            <a:picLocks noChangeAspect="1"/>
          </p:cNvPicPr>
          <p:nvPr/>
        </p:nvPicPr>
        <p:blipFill>
          <a:blip r:embed="rId2"/>
          <a:stretch>
            <a:fillRect/>
          </a:stretch>
        </p:blipFill>
        <p:spPr>
          <a:xfrm>
            <a:off x="-1" y="529490"/>
            <a:ext cx="9144001" cy="4614010"/>
          </a:xfrm>
          <a:prstGeom prst="rect">
            <a:avLst/>
          </a:prstGeom>
        </p:spPr>
      </p:pic>
      <p:sp>
        <p:nvSpPr>
          <p:cNvPr id="4" name="TextBox 3">
            <a:extLst>
              <a:ext uri="{FF2B5EF4-FFF2-40B4-BE49-F238E27FC236}">
                <a16:creationId xmlns:a16="http://schemas.microsoft.com/office/drawing/2014/main" id="{F6602BB8-D51E-969D-6FEA-8F3F77A4678C}"/>
              </a:ext>
            </a:extLst>
          </p:cNvPr>
          <p:cNvSpPr txBox="1"/>
          <p:nvPr/>
        </p:nvSpPr>
        <p:spPr>
          <a:xfrm>
            <a:off x="4034319" y="0"/>
            <a:ext cx="1075359" cy="461665"/>
          </a:xfrm>
          <a:prstGeom prst="rect">
            <a:avLst/>
          </a:prstGeom>
          <a:noFill/>
        </p:spPr>
        <p:txBody>
          <a:bodyPr wrap="none" rtlCol="0">
            <a:spAutoFit/>
          </a:bodyPr>
          <a:lstStyle/>
          <a:p>
            <a:r>
              <a:rPr lang="en-IN" sz="2400" dirty="0"/>
              <a:t>Results</a:t>
            </a:r>
          </a:p>
        </p:txBody>
      </p:sp>
    </p:spTree>
    <p:extLst>
      <p:ext uri="{BB962C8B-B14F-4D97-AF65-F5344CB8AC3E}">
        <p14:creationId xmlns:p14="http://schemas.microsoft.com/office/powerpoint/2010/main" val="1541948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383EC5-8C5B-B7B8-8F9D-2CAB607FBD46}"/>
              </a:ext>
            </a:extLst>
          </p:cNvPr>
          <p:cNvSpPr txBox="1"/>
          <p:nvPr/>
        </p:nvSpPr>
        <p:spPr>
          <a:xfrm>
            <a:off x="747459" y="30480"/>
            <a:ext cx="7649082" cy="646331"/>
          </a:xfrm>
          <a:prstGeom prst="rect">
            <a:avLst/>
          </a:prstGeom>
          <a:noFill/>
        </p:spPr>
        <p:txBody>
          <a:bodyPr wrap="none" rtlCol="0">
            <a:spAutoFit/>
          </a:bodyPr>
          <a:lstStyle/>
          <a:p>
            <a:r>
              <a:rPr lang="en-IN" dirty="0"/>
              <a:t>Analysis by varying spar/stiffener ratio in vertically straight stiffener wing profile</a:t>
            </a:r>
          </a:p>
          <a:p>
            <a:endParaRPr lang="en-IN" dirty="0"/>
          </a:p>
        </p:txBody>
      </p:sp>
      <p:sp>
        <p:nvSpPr>
          <p:cNvPr id="3" name="TextBox 2">
            <a:extLst>
              <a:ext uri="{FF2B5EF4-FFF2-40B4-BE49-F238E27FC236}">
                <a16:creationId xmlns:a16="http://schemas.microsoft.com/office/drawing/2014/main" id="{54C5EA79-B7A9-58A3-9B06-E191B0A8334D}"/>
              </a:ext>
            </a:extLst>
          </p:cNvPr>
          <p:cNvSpPr txBox="1"/>
          <p:nvPr/>
        </p:nvSpPr>
        <p:spPr>
          <a:xfrm>
            <a:off x="3370389" y="354836"/>
            <a:ext cx="2403222" cy="369332"/>
          </a:xfrm>
          <a:prstGeom prst="rect">
            <a:avLst/>
          </a:prstGeom>
          <a:noFill/>
        </p:spPr>
        <p:txBody>
          <a:bodyPr wrap="none" rtlCol="0">
            <a:spAutoFit/>
          </a:bodyPr>
          <a:lstStyle/>
          <a:p>
            <a:r>
              <a:rPr lang="en-IN" dirty="0"/>
              <a:t>Spar/stiff = 0.5/2 = 0.25</a:t>
            </a:r>
          </a:p>
        </p:txBody>
      </p:sp>
      <p:pic>
        <p:nvPicPr>
          <p:cNvPr id="6" name="Picture 5">
            <a:extLst>
              <a:ext uri="{FF2B5EF4-FFF2-40B4-BE49-F238E27FC236}">
                <a16:creationId xmlns:a16="http://schemas.microsoft.com/office/drawing/2014/main" id="{1F9A02E0-62DF-CB52-ED47-72C6DE7421AB}"/>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1016388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07F001-A679-791E-B613-B033746F2150}"/>
              </a:ext>
            </a:extLst>
          </p:cNvPr>
          <p:cNvSpPr txBox="1"/>
          <p:nvPr/>
        </p:nvSpPr>
        <p:spPr>
          <a:xfrm>
            <a:off x="3593527" y="234434"/>
            <a:ext cx="1956946" cy="369332"/>
          </a:xfrm>
          <a:prstGeom prst="rect">
            <a:avLst/>
          </a:prstGeom>
          <a:noFill/>
        </p:spPr>
        <p:txBody>
          <a:bodyPr wrap="none" rtlCol="0">
            <a:spAutoFit/>
          </a:bodyPr>
          <a:lstStyle/>
          <a:p>
            <a:r>
              <a:rPr lang="en-IN" dirty="0"/>
              <a:t>Spar/Stiff = ½ = 0.5</a:t>
            </a:r>
          </a:p>
        </p:txBody>
      </p:sp>
      <p:pic>
        <p:nvPicPr>
          <p:cNvPr id="7" name="Picture 6">
            <a:extLst>
              <a:ext uri="{FF2B5EF4-FFF2-40B4-BE49-F238E27FC236}">
                <a16:creationId xmlns:a16="http://schemas.microsoft.com/office/drawing/2014/main" id="{B9E9C636-B669-A693-939E-14F72FA303FC}"/>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3605688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674708-D2C6-F241-23DF-E8BA33F059CF}"/>
              </a:ext>
            </a:extLst>
          </p:cNvPr>
          <p:cNvSpPr txBox="1"/>
          <p:nvPr/>
        </p:nvSpPr>
        <p:spPr>
          <a:xfrm>
            <a:off x="3595610" y="228600"/>
            <a:ext cx="1952779" cy="369332"/>
          </a:xfrm>
          <a:prstGeom prst="rect">
            <a:avLst/>
          </a:prstGeom>
          <a:noFill/>
        </p:spPr>
        <p:txBody>
          <a:bodyPr wrap="none" rtlCol="0">
            <a:spAutoFit/>
          </a:bodyPr>
          <a:lstStyle/>
          <a:p>
            <a:r>
              <a:rPr lang="en-IN" dirty="0"/>
              <a:t>Spar/Stiff = 1/1 = 1</a:t>
            </a:r>
          </a:p>
        </p:txBody>
      </p:sp>
      <p:pic>
        <p:nvPicPr>
          <p:cNvPr id="5" name="Picture 4">
            <a:extLst>
              <a:ext uri="{FF2B5EF4-FFF2-40B4-BE49-F238E27FC236}">
                <a16:creationId xmlns:a16="http://schemas.microsoft.com/office/drawing/2014/main" id="{0C8421C6-E392-E2FE-F7B7-69797BD55350}"/>
              </a:ext>
            </a:extLst>
          </p:cNvPr>
          <p:cNvPicPr>
            <a:picLocks noChangeAspect="1"/>
          </p:cNvPicPr>
          <p:nvPr/>
        </p:nvPicPr>
        <p:blipFill>
          <a:blip r:embed="rId2"/>
          <a:stretch>
            <a:fillRect/>
          </a:stretch>
        </p:blipFill>
        <p:spPr>
          <a:xfrm>
            <a:off x="-1" y="771525"/>
            <a:ext cx="9144000" cy="4371975"/>
          </a:xfrm>
          <a:prstGeom prst="rect">
            <a:avLst/>
          </a:prstGeom>
        </p:spPr>
      </p:pic>
    </p:spTree>
    <p:extLst>
      <p:ext uri="{BB962C8B-B14F-4D97-AF65-F5344CB8AC3E}">
        <p14:creationId xmlns:p14="http://schemas.microsoft.com/office/powerpoint/2010/main" val="2083210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972498-1C1E-B281-2E66-5F15FA629192}"/>
              </a:ext>
            </a:extLst>
          </p:cNvPr>
          <p:cNvSpPr txBox="1"/>
          <p:nvPr/>
        </p:nvSpPr>
        <p:spPr>
          <a:xfrm>
            <a:off x="3422005" y="211574"/>
            <a:ext cx="2299989" cy="369332"/>
          </a:xfrm>
          <a:prstGeom prst="rect">
            <a:avLst/>
          </a:prstGeom>
          <a:noFill/>
        </p:spPr>
        <p:txBody>
          <a:bodyPr wrap="none" rtlCol="0">
            <a:spAutoFit/>
          </a:bodyPr>
          <a:lstStyle/>
          <a:p>
            <a:r>
              <a:rPr lang="en-IN" dirty="0"/>
              <a:t>Spar/Stiff = 1.5/1 = 1.5</a:t>
            </a:r>
          </a:p>
        </p:txBody>
      </p:sp>
      <p:pic>
        <p:nvPicPr>
          <p:cNvPr id="5" name="Picture 4">
            <a:extLst>
              <a:ext uri="{FF2B5EF4-FFF2-40B4-BE49-F238E27FC236}">
                <a16:creationId xmlns:a16="http://schemas.microsoft.com/office/drawing/2014/main" id="{C0F7C834-1E0D-840D-D578-604482060450}"/>
              </a:ext>
            </a:extLst>
          </p:cNvPr>
          <p:cNvPicPr>
            <a:picLocks noChangeAspect="1"/>
          </p:cNvPicPr>
          <p:nvPr/>
        </p:nvPicPr>
        <p:blipFill>
          <a:blip r:embed="rId2"/>
          <a:stretch>
            <a:fillRect/>
          </a:stretch>
        </p:blipFill>
        <p:spPr>
          <a:xfrm>
            <a:off x="-1" y="771525"/>
            <a:ext cx="9144000" cy="4371975"/>
          </a:xfrm>
          <a:prstGeom prst="rect">
            <a:avLst/>
          </a:prstGeom>
        </p:spPr>
      </p:pic>
    </p:spTree>
    <p:extLst>
      <p:ext uri="{BB962C8B-B14F-4D97-AF65-F5344CB8AC3E}">
        <p14:creationId xmlns:p14="http://schemas.microsoft.com/office/powerpoint/2010/main" val="1939349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E976FC-ED6F-CE78-FFE7-FA01E61D7493}"/>
              </a:ext>
            </a:extLst>
          </p:cNvPr>
          <p:cNvSpPr txBox="1"/>
          <p:nvPr/>
        </p:nvSpPr>
        <p:spPr>
          <a:xfrm>
            <a:off x="3596733" y="213360"/>
            <a:ext cx="1950534" cy="369332"/>
          </a:xfrm>
          <a:prstGeom prst="rect">
            <a:avLst/>
          </a:prstGeom>
          <a:noFill/>
        </p:spPr>
        <p:txBody>
          <a:bodyPr wrap="none" rtlCol="0">
            <a:spAutoFit/>
          </a:bodyPr>
          <a:lstStyle/>
          <a:p>
            <a:r>
              <a:rPr lang="en-IN" dirty="0"/>
              <a:t>Spar/Stiff = 2/1 = 2</a:t>
            </a:r>
          </a:p>
        </p:txBody>
      </p:sp>
      <p:pic>
        <p:nvPicPr>
          <p:cNvPr id="5" name="Picture 4">
            <a:extLst>
              <a:ext uri="{FF2B5EF4-FFF2-40B4-BE49-F238E27FC236}">
                <a16:creationId xmlns:a16="http://schemas.microsoft.com/office/drawing/2014/main" id="{99B0C6E8-4F5B-3522-0403-1860955D7676}"/>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4106364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B1C4DB-B0AE-DF10-894A-83A15DE2B7A4}"/>
              </a:ext>
            </a:extLst>
          </p:cNvPr>
          <p:cNvSpPr txBox="1"/>
          <p:nvPr/>
        </p:nvSpPr>
        <p:spPr>
          <a:xfrm>
            <a:off x="3596733" y="295394"/>
            <a:ext cx="1950534" cy="369332"/>
          </a:xfrm>
          <a:prstGeom prst="rect">
            <a:avLst/>
          </a:prstGeom>
          <a:noFill/>
        </p:spPr>
        <p:txBody>
          <a:bodyPr wrap="none" rtlCol="0">
            <a:spAutoFit/>
          </a:bodyPr>
          <a:lstStyle/>
          <a:p>
            <a:r>
              <a:rPr lang="en-IN" dirty="0"/>
              <a:t>Spar/Stiff = 2/2 = 1</a:t>
            </a:r>
          </a:p>
        </p:txBody>
      </p:sp>
      <p:pic>
        <p:nvPicPr>
          <p:cNvPr id="5" name="Picture 4">
            <a:extLst>
              <a:ext uri="{FF2B5EF4-FFF2-40B4-BE49-F238E27FC236}">
                <a16:creationId xmlns:a16="http://schemas.microsoft.com/office/drawing/2014/main" id="{0B58608C-E447-FBB3-F3D6-2CCA446CCCAD}"/>
              </a:ext>
            </a:extLst>
          </p:cNvPr>
          <p:cNvPicPr>
            <a:picLocks noChangeAspect="1"/>
          </p:cNvPicPr>
          <p:nvPr/>
        </p:nvPicPr>
        <p:blipFill>
          <a:blip r:embed="rId2"/>
          <a:stretch>
            <a:fillRect/>
          </a:stretch>
        </p:blipFill>
        <p:spPr>
          <a:xfrm>
            <a:off x="0" y="771525"/>
            <a:ext cx="9144000" cy="4371975"/>
          </a:xfrm>
          <a:prstGeom prst="rect">
            <a:avLst/>
          </a:prstGeom>
        </p:spPr>
      </p:pic>
    </p:spTree>
    <p:extLst>
      <p:ext uri="{BB962C8B-B14F-4D97-AF65-F5344CB8AC3E}">
        <p14:creationId xmlns:p14="http://schemas.microsoft.com/office/powerpoint/2010/main" val="25370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D7E4F-4A36-FAE1-2F06-F7A2B4F66E14}"/>
              </a:ext>
            </a:extLst>
          </p:cNvPr>
          <p:cNvSpPr txBox="1"/>
          <p:nvPr/>
        </p:nvSpPr>
        <p:spPr>
          <a:xfrm>
            <a:off x="1167061" y="76200"/>
            <a:ext cx="6809878" cy="369332"/>
          </a:xfrm>
          <a:prstGeom prst="rect">
            <a:avLst/>
          </a:prstGeom>
          <a:noFill/>
        </p:spPr>
        <p:txBody>
          <a:bodyPr wrap="none" rtlCol="0">
            <a:spAutoFit/>
          </a:bodyPr>
          <a:lstStyle/>
          <a:p>
            <a:r>
              <a:rPr lang="en-IN" dirty="0"/>
              <a:t>Study of Inclined rectangular strip by dividing into 10 rectangular strip</a:t>
            </a:r>
          </a:p>
        </p:txBody>
      </p:sp>
      <p:pic>
        <p:nvPicPr>
          <p:cNvPr id="6" name="Picture 5">
            <a:extLst>
              <a:ext uri="{FF2B5EF4-FFF2-40B4-BE49-F238E27FC236}">
                <a16:creationId xmlns:a16="http://schemas.microsoft.com/office/drawing/2014/main" id="{950C1BE3-8FB8-AE22-0FF0-D4FDA8B03393}"/>
              </a:ext>
            </a:extLst>
          </p:cNvPr>
          <p:cNvPicPr>
            <a:picLocks noChangeAspect="1"/>
          </p:cNvPicPr>
          <p:nvPr/>
        </p:nvPicPr>
        <p:blipFill>
          <a:blip r:embed="rId2"/>
          <a:stretch>
            <a:fillRect/>
          </a:stretch>
        </p:blipFill>
        <p:spPr>
          <a:xfrm>
            <a:off x="0" y="771525"/>
            <a:ext cx="9144000" cy="4371975"/>
          </a:xfrm>
          <a:prstGeom prst="rect">
            <a:avLst/>
          </a:prstGeom>
        </p:spPr>
      </p:pic>
      <p:sp>
        <p:nvSpPr>
          <p:cNvPr id="7" name="TextBox 6">
            <a:extLst>
              <a:ext uri="{FF2B5EF4-FFF2-40B4-BE49-F238E27FC236}">
                <a16:creationId xmlns:a16="http://schemas.microsoft.com/office/drawing/2014/main" id="{6D800BFB-9B25-F766-F577-E46F54FA6AE6}"/>
              </a:ext>
            </a:extLst>
          </p:cNvPr>
          <p:cNvSpPr txBox="1"/>
          <p:nvPr/>
        </p:nvSpPr>
        <p:spPr>
          <a:xfrm>
            <a:off x="3275010" y="402193"/>
            <a:ext cx="2593980" cy="369332"/>
          </a:xfrm>
          <a:prstGeom prst="rect">
            <a:avLst/>
          </a:prstGeom>
          <a:noFill/>
        </p:spPr>
        <p:txBody>
          <a:bodyPr wrap="none" rtlCol="0">
            <a:spAutoFit/>
          </a:bodyPr>
          <a:lstStyle/>
          <a:p>
            <a:r>
              <a:rPr lang="en-IN" dirty="0"/>
              <a:t>Spar/Stiff = 0.5/2.0 = 0.25</a:t>
            </a:r>
          </a:p>
        </p:txBody>
      </p:sp>
    </p:spTree>
    <p:extLst>
      <p:ext uri="{BB962C8B-B14F-4D97-AF65-F5344CB8AC3E}">
        <p14:creationId xmlns:p14="http://schemas.microsoft.com/office/powerpoint/2010/main" val="342943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061D74-0A56-433E-B6BD-4AED0DA2887D}"/>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B1425EED-8581-8168-9BBB-C309B93722E5}"/>
              </a:ext>
            </a:extLst>
          </p:cNvPr>
          <p:cNvSpPr txBox="1"/>
          <p:nvPr/>
        </p:nvSpPr>
        <p:spPr>
          <a:xfrm>
            <a:off x="3593527" y="220980"/>
            <a:ext cx="1956946" cy="369332"/>
          </a:xfrm>
          <a:prstGeom prst="rect">
            <a:avLst/>
          </a:prstGeom>
          <a:noFill/>
        </p:spPr>
        <p:txBody>
          <a:bodyPr wrap="none" rtlCol="0">
            <a:spAutoFit/>
          </a:bodyPr>
          <a:lstStyle/>
          <a:p>
            <a:r>
              <a:rPr lang="en-IN" dirty="0"/>
              <a:t>Spar/Stiff = ½ = 0.5</a:t>
            </a:r>
          </a:p>
        </p:txBody>
      </p:sp>
    </p:spTree>
    <p:extLst>
      <p:ext uri="{BB962C8B-B14F-4D97-AF65-F5344CB8AC3E}">
        <p14:creationId xmlns:p14="http://schemas.microsoft.com/office/powerpoint/2010/main" val="733238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514F8E-7DB0-DE2D-AFC4-06478264DDD1}"/>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95F1FC96-E114-C7AF-FDB7-86D97CB82DE9}"/>
              </a:ext>
            </a:extLst>
          </p:cNvPr>
          <p:cNvSpPr txBox="1"/>
          <p:nvPr/>
        </p:nvSpPr>
        <p:spPr>
          <a:xfrm>
            <a:off x="3595610" y="228600"/>
            <a:ext cx="1952779" cy="369332"/>
          </a:xfrm>
          <a:prstGeom prst="rect">
            <a:avLst/>
          </a:prstGeom>
          <a:noFill/>
        </p:spPr>
        <p:txBody>
          <a:bodyPr wrap="none" rtlCol="0">
            <a:spAutoFit/>
          </a:bodyPr>
          <a:lstStyle/>
          <a:p>
            <a:r>
              <a:rPr lang="en-IN" dirty="0"/>
              <a:t>Spar/Stiff = 1/1 = 1</a:t>
            </a:r>
          </a:p>
        </p:txBody>
      </p:sp>
    </p:spTree>
    <p:extLst>
      <p:ext uri="{BB962C8B-B14F-4D97-AF65-F5344CB8AC3E}">
        <p14:creationId xmlns:p14="http://schemas.microsoft.com/office/powerpoint/2010/main" val="1803610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3FA443-A6C1-AAA1-0B3F-A366096F542C}"/>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2A647952-3748-4ED1-0838-BF7D0CD64388}"/>
              </a:ext>
            </a:extLst>
          </p:cNvPr>
          <p:cNvSpPr txBox="1"/>
          <p:nvPr/>
        </p:nvSpPr>
        <p:spPr>
          <a:xfrm>
            <a:off x="3422005" y="236220"/>
            <a:ext cx="2299989" cy="369332"/>
          </a:xfrm>
          <a:prstGeom prst="rect">
            <a:avLst/>
          </a:prstGeom>
          <a:noFill/>
        </p:spPr>
        <p:txBody>
          <a:bodyPr wrap="none" rtlCol="0">
            <a:spAutoFit/>
          </a:bodyPr>
          <a:lstStyle/>
          <a:p>
            <a:r>
              <a:rPr lang="en-IN" dirty="0"/>
              <a:t>Spar/Stiff = 1.5/1 = 1.5</a:t>
            </a:r>
          </a:p>
        </p:txBody>
      </p:sp>
    </p:spTree>
    <p:extLst>
      <p:ext uri="{BB962C8B-B14F-4D97-AF65-F5344CB8AC3E}">
        <p14:creationId xmlns:p14="http://schemas.microsoft.com/office/powerpoint/2010/main" val="41084008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AD966E-F439-8661-3508-EA4DBB7362D4}"/>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E59FE430-A9CF-6BAA-21B0-C4710AF58EBF}"/>
              </a:ext>
            </a:extLst>
          </p:cNvPr>
          <p:cNvSpPr txBox="1"/>
          <p:nvPr/>
        </p:nvSpPr>
        <p:spPr>
          <a:xfrm>
            <a:off x="3570283" y="220980"/>
            <a:ext cx="2003434" cy="369332"/>
          </a:xfrm>
          <a:prstGeom prst="rect">
            <a:avLst/>
          </a:prstGeom>
          <a:noFill/>
        </p:spPr>
        <p:txBody>
          <a:bodyPr wrap="none" rtlCol="0">
            <a:spAutoFit/>
          </a:bodyPr>
          <a:lstStyle/>
          <a:p>
            <a:r>
              <a:rPr lang="en-IN" dirty="0"/>
              <a:t>Spar/ Stiff = 2/1 = 2</a:t>
            </a:r>
          </a:p>
        </p:txBody>
      </p:sp>
    </p:spTree>
    <p:extLst>
      <p:ext uri="{BB962C8B-B14F-4D97-AF65-F5344CB8AC3E}">
        <p14:creationId xmlns:p14="http://schemas.microsoft.com/office/powerpoint/2010/main" val="4245694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CC8FC2-77F0-4689-DE82-CD90F15EB779}"/>
              </a:ext>
            </a:extLst>
          </p:cNvPr>
          <p:cNvPicPr>
            <a:picLocks noChangeAspect="1"/>
          </p:cNvPicPr>
          <p:nvPr/>
        </p:nvPicPr>
        <p:blipFill>
          <a:blip r:embed="rId2"/>
          <a:stretch>
            <a:fillRect/>
          </a:stretch>
        </p:blipFill>
        <p:spPr>
          <a:xfrm>
            <a:off x="0" y="771525"/>
            <a:ext cx="9144000" cy="4371975"/>
          </a:xfrm>
          <a:prstGeom prst="rect">
            <a:avLst/>
          </a:prstGeom>
        </p:spPr>
      </p:pic>
      <p:sp>
        <p:nvSpPr>
          <p:cNvPr id="4" name="TextBox 3">
            <a:extLst>
              <a:ext uri="{FF2B5EF4-FFF2-40B4-BE49-F238E27FC236}">
                <a16:creationId xmlns:a16="http://schemas.microsoft.com/office/drawing/2014/main" id="{44F33CA3-1F2B-7B67-18F4-6CA1C19CF744}"/>
              </a:ext>
            </a:extLst>
          </p:cNvPr>
          <p:cNvSpPr txBox="1"/>
          <p:nvPr/>
        </p:nvSpPr>
        <p:spPr>
          <a:xfrm>
            <a:off x="3596733" y="205740"/>
            <a:ext cx="1950534" cy="369332"/>
          </a:xfrm>
          <a:prstGeom prst="rect">
            <a:avLst/>
          </a:prstGeom>
          <a:noFill/>
        </p:spPr>
        <p:txBody>
          <a:bodyPr wrap="none" rtlCol="0">
            <a:spAutoFit/>
          </a:bodyPr>
          <a:lstStyle/>
          <a:p>
            <a:r>
              <a:rPr lang="en-IN" dirty="0"/>
              <a:t>Spar/Stiff = 2/2 = 2</a:t>
            </a:r>
          </a:p>
        </p:txBody>
      </p:sp>
    </p:spTree>
    <p:extLst>
      <p:ext uri="{BB962C8B-B14F-4D97-AF65-F5344CB8AC3E}">
        <p14:creationId xmlns:p14="http://schemas.microsoft.com/office/powerpoint/2010/main" val="2729638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0">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w="12700">
            <a:solidFill>
              <a:srgbClr val="4A90D9"/>
            </a:solidFill>
            <a:prstDash val="solid"/>
          </a:ln>
        </p:spPr>
      </p:sp>
      <p:sp>
        <p:nvSpPr>
          <p:cNvPr id="3" name="Text 1"/>
          <p:cNvSpPr/>
          <p:nvPr/>
        </p:nvSpPr>
        <p:spPr>
          <a:xfrm>
            <a:off x="548640" y="1371600"/>
            <a:ext cx="8046720" cy="100584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4" name="Text 2"/>
          <p:cNvSpPr/>
          <p:nvPr/>
        </p:nvSpPr>
        <p:spPr>
          <a:xfrm>
            <a:off x="548640" y="2377440"/>
            <a:ext cx="8046720" cy="411480"/>
          </a:xfrm>
          <a:prstGeom prst="rect">
            <a:avLst/>
          </a:prstGeom>
          <a:noFill/>
          <a:ln/>
        </p:spPr>
        <p:txBody>
          <a:bodyPr wrap="square" rtlCol="0" anchor="ctr"/>
          <a:lstStyle/>
          <a:p>
            <a:pPr marL="0" indent="0" algn="ctr">
              <a:buNone/>
            </a:pPr>
            <a:r>
              <a:rPr lang="en-US" sz="1600" dirty="0">
                <a:solidFill>
                  <a:srgbClr val="9CA3AF"/>
                </a:solidFill>
                <a:latin typeface="Calibri" pitchFamily="34" charset="0"/>
                <a:ea typeface="Calibri" pitchFamily="34" charset="-122"/>
                <a:cs typeface="Calibri" pitchFamily="34" charset="-120"/>
              </a:rPr>
              <a:t>for your time and attention</a:t>
            </a:r>
            <a:endParaRPr lang="en-US" sz="1600" dirty="0"/>
          </a:p>
        </p:txBody>
      </p:sp>
      <p:sp>
        <p:nvSpPr>
          <p:cNvPr id="5" name="Shape 3"/>
          <p:cNvSpPr/>
          <p:nvPr/>
        </p:nvSpPr>
        <p:spPr>
          <a:xfrm>
            <a:off x="3200400" y="2971800"/>
            <a:ext cx="2743200" cy="36576"/>
          </a:xfrm>
          <a:prstGeom prst="rect">
            <a:avLst/>
          </a:prstGeom>
          <a:solidFill>
            <a:srgbClr val="4A90D9"/>
          </a:solidFill>
          <a:ln w="12700">
            <a:solidFill>
              <a:srgbClr val="4A90D9"/>
            </a:solidFill>
            <a:prstDash val="solid"/>
          </a:ln>
        </p:spPr>
      </p:sp>
      <p:sp>
        <p:nvSpPr>
          <p:cNvPr id="6" name="Text 4"/>
          <p:cNvSpPr/>
          <p:nvPr/>
        </p:nvSpPr>
        <p:spPr>
          <a:xfrm>
            <a:off x="548640" y="3200400"/>
            <a:ext cx="8046720" cy="822960"/>
          </a:xfrm>
          <a:prstGeom prst="rect">
            <a:avLst/>
          </a:prstGeom>
          <a:noFill/>
          <a:ln/>
        </p:spPr>
        <p:txBody>
          <a:bodyPr wrap="square" rtlCol="0" anchor="ctr"/>
          <a:lstStyle/>
          <a:p>
            <a:pPr marL="0" indent="0" algn="ctr">
              <a:buNone/>
            </a:pPr>
            <a:r>
              <a:rPr lang="en-US" sz="1200" b="1" dirty="0">
                <a:solidFill>
                  <a:srgbClr val="D1D5DB"/>
                </a:solidFill>
                <a:latin typeface="Calibri" pitchFamily="34" charset="0"/>
                <a:ea typeface="Calibri" pitchFamily="34" charset="-122"/>
                <a:cs typeface="Calibri" pitchFamily="34" charset="-120"/>
              </a:rPr>
              <a:t>Anoop Patel  |  Intern
</a:t>
            </a:r>
            <a:r>
              <a:rPr lang="en-US" sz="1200" dirty="0">
                <a:solidFill>
                  <a:srgbClr val="D1D5DB"/>
                </a:solidFill>
                <a:latin typeface="Calibri" pitchFamily="34" charset="0"/>
                <a:ea typeface="Calibri" pitchFamily="34" charset="-122"/>
                <a:cs typeface="Calibri" pitchFamily="34" charset="-120"/>
              </a:rPr>
              <a:t>Mechanical Engineering, NIT Sikkim
</a:t>
            </a:r>
            <a:r>
              <a:rPr lang="en-US" sz="1200" dirty="0">
                <a:solidFill>
                  <a:srgbClr val="9CA3AF"/>
                </a:solidFill>
                <a:latin typeface="Calibri" pitchFamily="34" charset="0"/>
                <a:ea typeface="Calibri" pitchFamily="34" charset="-122"/>
                <a:cs typeface="Calibri" pitchFamily="34" charset="-120"/>
              </a:rPr>
              <a:t>Guide: Dr Sai Sidhardh</a:t>
            </a:r>
            <a:endParaRPr lang="en-US" sz="1200" dirty="0"/>
          </a:p>
        </p:txBody>
      </p:sp>
      <p:sp>
        <p:nvSpPr>
          <p:cNvPr id="7" name="Text 5"/>
          <p:cNvSpPr/>
          <p:nvPr/>
        </p:nvSpPr>
        <p:spPr>
          <a:xfrm>
            <a:off x="548640" y="4297680"/>
            <a:ext cx="8046720" cy="32004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Reference: Y. Chen, PhD Thesis — Harvard University, 2017</a:t>
            </a:r>
            <a:endParaRPr lang="en-US" sz="1100" dirty="0"/>
          </a:p>
        </p:txBody>
      </p:sp>
      <p:sp>
        <p:nvSpPr>
          <p:cNvPr id="8" name="Shape 6"/>
          <p:cNvSpPr/>
          <p:nvPr/>
        </p:nvSpPr>
        <p:spPr>
          <a:xfrm>
            <a:off x="0" y="5088636"/>
            <a:ext cx="9144000" cy="54864"/>
          </a:xfrm>
          <a:prstGeom prst="rect">
            <a:avLst/>
          </a:prstGeom>
          <a:solidFill>
            <a:srgbClr val="4A90D9"/>
          </a:solidFill>
          <a:ln w="12700">
            <a:solidFill>
              <a:srgbClr val="4A90D9"/>
            </a:solidFill>
            <a:prstDash val="solid"/>
          </a:ln>
        </p:spPr>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2752</TotalTime>
  <Words>1164</Words>
  <Application>Microsoft Office PowerPoint</Application>
  <PresentationFormat>On-screen Show (16:9)</PresentationFormat>
  <Paragraphs>151</Paragraphs>
  <Slides>45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Cambria Math</vt:lpstr>
      <vt:lpstr>Rod</vt:lpstr>
      <vt:lpstr>Sabon Next LT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Wing Inertia and Morphology — Chapter 3</dc:title>
  <dc:subject>PptxGenJS Presentation</dc:subject>
  <dc:creator>Anoop Patel</dc:creator>
  <cp:lastModifiedBy>Anoop Patel</cp:lastModifiedBy>
  <cp:revision>13</cp:revision>
  <dcterms:created xsi:type="dcterms:W3CDTF">2026-06-08T05:42:18Z</dcterms:created>
  <dcterms:modified xsi:type="dcterms:W3CDTF">2026-07-06T12:55:36Z</dcterms:modified>
</cp:coreProperties>
</file>